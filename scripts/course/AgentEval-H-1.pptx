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heme/themeOverride1.xml" ContentType="application/vnd.openxmlformats-officedocument.themeOverr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3"/>
  </p:notesMasterIdLst>
  <p:sldIdLst>
    <p:sldId id="256" r:id="rId2"/>
    <p:sldId id="258" r:id="rId3"/>
    <p:sldId id="259" r:id="rId4"/>
    <p:sldId id="279" r:id="rId5"/>
    <p:sldId id="280" r:id="rId6"/>
    <p:sldId id="282" r:id="rId7"/>
    <p:sldId id="319" r:id="rId8"/>
    <p:sldId id="284" r:id="rId9"/>
    <p:sldId id="285" r:id="rId10"/>
    <p:sldId id="287" r:id="rId11"/>
    <p:sldId id="288" r:id="rId12"/>
    <p:sldId id="289" r:id="rId13"/>
    <p:sldId id="294" r:id="rId14"/>
    <p:sldId id="281" r:id="rId15"/>
    <p:sldId id="296" r:id="rId16"/>
    <p:sldId id="297" r:id="rId17"/>
    <p:sldId id="320" r:id="rId18"/>
    <p:sldId id="324" r:id="rId19"/>
    <p:sldId id="321" r:id="rId20"/>
    <p:sldId id="322" r:id="rId21"/>
    <p:sldId id="323" r:id="rId22"/>
    <p:sldId id="325" r:id="rId23"/>
    <p:sldId id="326" r:id="rId24"/>
    <p:sldId id="299" r:id="rId25"/>
    <p:sldId id="300" r:id="rId26"/>
    <p:sldId id="301" r:id="rId27"/>
    <p:sldId id="302" r:id="rId28"/>
    <p:sldId id="316" r:id="rId29"/>
    <p:sldId id="303" r:id="rId30"/>
    <p:sldId id="304" r:id="rId31"/>
    <p:sldId id="305" r:id="rId32"/>
    <p:sldId id="306" r:id="rId33"/>
    <p:sldId id="307" r:id="rId34"/>
    <p:sldId id="308" r:id="rId35"/>
    <p:sldId id="309" r:id="rId36"/>
    <p:sldId id="310" r:id="rId37"/>
    <p:sldId id="317" r:id="rId38"/>
    <p:sldId id="311" r:id="rId39"/>
    <p:sldId id="318" r:id="rId40"/>
    <p:sldId id="312" r:id="rId41"/>
    <p:sldId id="314" r:id="rId42"/>
    <p:sldId id="327" r:id="rId43"/>
    <p:sldId id="332" r:id="rId44"/>
    <p:sldId id="328" r:id="rId45"/>
    <p:sldId id="329" r:id="rId46"/>
    <p:sldId id="330" r:id="rId47"/>
    <p:sldId id="331" r:id="rId48"/>
    <p:sldId id="336" r:id="rId49"/>
    <p:sldId id="333" r:id="rId50"/>
    <p:sldId id="334" r:id="rId51"/>
    <p:sldId id="335" r:id="rId5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A8ED03-0615-4835-96C0-4C274C647B02}" v="778" dt="2026-02-11T22:25:06.4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835" autoAdjust="0"/>
    <p:restoredTop sz="94660"/>
  </p:normalViewPr>
  <p:slideViewPr>
    <p:cSldViewPr snapToGrid="0">
      <p:cViewPr>
        <p:scale>
          <a:sx n="75" d="100"/>
          <a:sy n="75" d="100"/>
        </p:scale>
        <p:origin x="571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microsoft.com/office/2015/10/relationships/revisionInfo" Target="revisionInfo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9399F85-BB74-43C9-810E-2D3A64111C79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65CA7B7-39CB-40C5-BB86-5057361010A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Modern AI systems have evolved rapidly, increasing both capability and autonomy.</a:t>
          </a:r>
        </a:p>
      </dgm:t>
    </dgm:pt>
    <dgm:pt modelId="{EE443BBC-A2E7-46A0-9C89-DA9862AE771C}" type="parTrans" cxnId="{A7B00394-2737-4FCC-B262-200139274D6B}">
      <dgm:prSet/>
      <dgm:spPr/>
      <dgm:t>
        <a:bodyPr/>
        <a:lstStyle/>
        <a:p>
          <a:endParaRPr lang="en-US"/>
        </a:p>
      </dgm:t>
    </dgm:pt>
    <dgm:pt modelId="{DC5B64F9-3B0E-4057-A106-9C1A732CDA34}" type="sibTrans" cxnId="{A7B00394-2737-4FCC-B262-200139274D6B}">
      <dgm:prSet/>
      <dgm:spPr/>
      <dgm:t>
        <a:bodyPr/>
        <a:lstStyle/>
        <a:p>
          <a:endParaRPr lang="en-US"/>
        </a:p>
      </dgm:t>
    </dgm:pt>
    <dgm:pt modelId="{F430BD45-8C87-433B-84F6-B07CC7610C6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Capability progression</a:t>
          </a:r>
          <a:endParaRPr lang="en-US"/>
        </a:p>
      </dgm:t>
    </dgm:pt>
    <dgm:pt modelId="{6CA16F0B-D6C7-4C74-80AA-F220CE86F2E9}" type="parTrans" cxnId="{9300EFAA-7302-43D6-AE6F-F30DCE4404B6}">
      <dgm:prSet/>
      <dgm:spPr/>
      <dgm:t>
        <a:bodyPr/>
        <a:lstStyle/>
        <a:p>
          <a:endParaRPr lang="en-US"/>
        </a:p>
      </dgm:t>
    </dgm:pt>
    <dgm:pt modelId="{9F789B65-94FA-46E8-A18C-52D9DA966561}" type="sibTrans" cxnId="{9300EFAA-7302-43D6-AE6F-F30DCE4404B6}">
      <dgm:prSet/>
      <dgm:spPr/>
      <dgm:t>
        <a:bodyPr/>
        <a:lstStyle/>
        <a:p>
          <a:endParaRPr lang="en-US"/>
        </a:p>
      </dgm:t>
    </dgm:pt>
    <dgm:pt modelId="{5EB5484D-899A-4842-AB13-8585D0902C3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Chatbot</a:t>
          </a:r>
          <a:r>
            <a:rPr lang="en-US"/>
            <a:t> → generates text responses only</a:t>
          </a:r>
        </a:p>
      </dgm:t>
    </dgm:pt>
    <dgm:pt modelId="{EE76D667-9419-4353-800A-A95320E3C215}" type="parTrans" cxnId="{2A5FFCFB-B22C-442D-B8F1-4A0AB6982F5C}">
      <dgm:prSet/>
      <dgm:spPr/>
      <dgm:t>
        <a:bodyPr/>
        <a:lstStyle/>
        <a:p>
          <a:endParaRPr lang="en-US"/>
        </a:p>
      </dgm:t>
    </dgm:pt>
    <dgm:pt modelId="{D128D8AF-4BD1-49EE-B925-31E266B3E2E4}" type="sibTrans" cxnId="{2A5FFCFB-B22C-442D-B8F1-4A0AB6982F5C}">
      <dgm:prSet/>
      <dgm:spPr/>
      <dgm:t>
        <a:bodyPr/>
        <a:lstStyle/>
        <a:p>
          <a:endParaRPr lang="en-US"/>
        </a:p>
      </dgm:t>
    </dgm:pt>
    <dgm:pt modelId="{25F15D01-56B3-4847-A268-183D1F7C389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Tool-Using LLM</a:t>
          </a:r>
          <a:r>
            <a:rPr lang="en-US"/>
            <a:t> → can call external APIs/tools</a:t>
          </a:r>
        </a:p>
      </dgm:t>
    </dgm:pt>
    <dgm:pt modelId="{84449DB5-1641-465E-8187-F5416D496E11}" type="parTrans" cxnId="{6552843D-D775-40FF-B447-1CFD3F6516D9}">
      <dgm:prSet/>
      <dgm:spPr/>
      <dgm:t>
        <a:bodyPr/>
        <a:lstStyle/>
        <a:p>
          <a:endParaRPr lang="en-US"/>
        </a:p>
      </dgm:t>
    </dgm:pt>
    <dgm:pt modelId="{AB6964D6-F3D8-4F3B-98CA-0F9536395017}" type="sibTrans" cxnId="{6552843D-D775-40FF-B447-1CFD3F6516D9}">
      <dgm:prSet/>
      <dgm:spPr/>
      <dgm:t>
        <a:bodyPr/>
        <a:lstStyle/>
        <a:p>
          <a:endParaRPr lang="en-US"/>
        </a:p>
      </dgm:t>
    </dgm:pt>
    <dgm:pt modelId="{2477C451-4F0E-4624-9C4B-9370FA9DCA5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Autonomous Agent</a:t>
          </a:r>
          <a:r>
            <a:rPr lang="en-US"/>
            <a:t> → performs multi-step reasoning and actions</a:t>
          </a:r>
        </a:p>
      </dgm:t>
    </dgm:pt>
    <dgm:pt modelId="{9E3A29E3-8D90-48CC-8360-5905C55B0AE9}" type="parTrans" cxnId="{CEF2A726-C1A5-4245-B889-5E7D374BA0FC}">
      <dgm:prSet/>
      <dgm:spPr/>
      <dgm:t>
        <a:bodyPr/>
        <a:lstStyle/>
        <a:p>
          <a:endParaRPr lang="en-US"/>
        </a:p>
      </dgm:t>
    </dgm:pt>
    <dgm:pt modelId="{BC8EBD5D-AB40-4085-95DD-5098EE0543CB}" type="sibTrans" cxnId="{CEF2A726-C1A5-4245-B889-5E7D374BA0FC}">
      <dgm:prSet/>
      <dgm:spPr/>
      <dgm:t>
        <a:bodyPr/>
        <a:lstStyle/>
        <a:p>
          <a:endParaRPr lang="en-US"/>
        </a:p>
      </dgm:t>
    </dgm:pt>
    <dgm:pt modelId="{4EA24EC8-41F1-4003-9D86-AC4EA349BFD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Multi-Agent System</a:t>
          </a:r>
          <a:r>
            <a:rPr lang="en-US"/>
            <a:t> → multiple agents collaborate toward a goal</a:t>
          </a:r>
        </a:p>
      </dgm:t>
    </dgm:pt>
    <dgm:pt modelId="{D3B9BA4B-66DC-49C0-B834-F894C9D933AA}" type="parTrans" cxnId="{2724AE48-1079-4B48-9875-5DAA94C84974}">
      <dgm:prSet/>
      <dgm:spPr/>
      <dgm:t>
        <a:bodyPr/>
        <a:lstStyle/>
        <a:p>
          <a:endParaRPr lang="en-US"/>
        </a:p>
      </dgm:t>
    </dgm:pt>
    <dgm:pt modelId="{CDADD8FC-DDC2-4464-851B-256DB30C0CF5}" type="sibTrans" cxnId="{2724AE48-1079-4B48-9875-5DAA94C84974}">
      <dgm:prSet/>
      <dgm:spPr/>
      <dgm:t>
        <a:bodyPr/>
        <a:lstStyle/>
        <a:p>
          <a:endParaRPr lang="en-US"/>
        </a:p>
      </dgm:t>
    </dgm:pt>
    <dgm:pt modelId="{6839CA12-8B37-4745-91C8-5D8AE751F258}" type="pres">
      <dgm:prSet presAssocID="{89399F85-BB74-43C9-810E-2D3A64111C79}" presName="root" presStyleCnt="0">
        <dgm:presLayoutVars>
          <dgm:dir/>
          <dgm:resizeHandles val="exact"/>
        </dgm:presLayoutVars>
      </dgm:prSet>
      <dgm:spPr/>
    </dgm:pt>
    <dgm:pt modelId="{D11878F5-4EB3-42BA-AB18-99905399D377}" type="pres">
      <dgm:prSet presAssocID="{465CA7B7-39CB-40C5-BB86-5057361010AC}" presName="compNode" presStyleCnt="0"/>
      <dgm:spPr/>
    </dgm:pt>
    <dgm:pt modelId="{6F9324A5-5CDF-4874-8475-059FE5ADCFBA}" type="pres">
      <dgm:prSet presAssocID="{465CA7B7-39CB-40C5-BB86-5057361010AC}" presName="bgRect" presStyleLbl="bgShp" presStyleIdx="0" presStyleCnt="6"/>
      <dgm:spPr/>
    </dgm:pt>
    <dgm:pt modelId="{1E0F599C-A879-497A-9EF8-5E5A93B5BB21}" type="pres">
      <dgm:prSet presAssocID="{465CA7B7-39CB-40C5-BB86-5057361010AC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9EF784E3-7E42-4470-9B90-8BDACA6837E6}" type="pres">
      <dgm:prSet presAssocID="{465CA7B7-39CB-40C5-BB86-5057361010AC}" presName="spaceRect" presStyleCnt="0"/>
      <dgm:spPr/>
    </dgm:pt>
    <dgm:pt modelId="{691ADFE5-7A45-44D5-BA05-C4910D39A8D9}" type="pres">
      <dgm:prSet presAssocID="{465CA7B7-39CB-40C5-BB86-5057361010AC}" presName="parTx" presStyleLbl="revTx" presStyleIdx="0" presStyleCnt="6">
        <dgm:presLayoutVars>
          <dgm:chMax val="0"/>
          <dgm:chPref val="0"/>
        </dgm:presLayoutVars>
      </dgm:prSet>
      <dgm:spPr/>
    </dgm:pt>
    <dgm:pt modelId="{190759E7-9E00-41A1-B654-6D41B058F875}" type="pres">
      <dgm:prSet presAssocID="{DC5B64F9-3B0E-4057-A106-9C1A732CDA34}" presName="sibTrans" presStyleCnt="0"/>
      <dgm:spPr/>
    </dgm:pt>
    <dgm:pt modelId="{B68831F0-9AB3-4196-9B2F-EF77BA389057}" type="pres">
      <dgm:prSet presAssocID="{F430BD45-8C87-433B-84F6-B07CC7610C69}" presName="compNode" presStyleCnt="0"/>
      <dgm:spPr/>
    </dgm:pt>
    <dgm:pt modelId="{9C9D7972-7AD0-4379-A59E-A513CA763DA5}" type="pres">
      <dgm:prSet presAssocID="{F430BD45-8C87-433B-84F6-B07CC7610C69}" presName="bgRect" presStyleLbl="bgShp" presStyleIdx="1" presStyleCnt="6"/>
      <dgm:spPr/>
    </dgm:pt>
    <dgm:pt modelId="{3650D649-A2E8-4D0D-9767-285F3C3AB85E}" type="pres">
      <dgm:prSet presAssocID="{F430BD45-8C87-433B-84F6-B07CC7610C69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0E2C4B56-9B3A-4386-B475-EA16EDD1FC0F}" type="pres">
      <dgm:prSet presAssocID="{F430BD45-8C87-433B-84F6-B07CC7610C69}" presName="spaceRect" presStyleCnt="0"/>
      <dgm:spPr/>
    </dgm:pt>
    <dgm:pt modelId="{2D49CA9D-E1D3-4251-AE89-A26814D75512}" type="pres">
      <dgm:prSet presAssocID="{F430BD45-8C87-433B-84F6-B07CC7610C69}" presName="parTx" presStyleLbl="revTx" presStyleIdx="1" presStyleCnt="6">
        <dgm:presLayoutVars>
          <dgm:chMax val="0"/>
          <dgm:chPref val="0"/>
        </dgm:presLayoutVars>
      </dgm:prSet>
      <dgm:spPr/>
    </dgm:pt>
    <dgm:pt modelId="{E1CBEC80-B558-4F57-AC81-EA5A1902BEA6}" type="pres">
      <dgm:prSet presAssocID="{9F789B65-94FA-46E8-A18C-52D9DA966561}" presName="sibTrans" presStyleCnt="0"/>
      <dgm:spPr/>
    </dgm:pt>
    <dgm:pt modelId="{9338AFCB-2358-4BA7-A015-83C7744C9623}" type="pres">
      <dgm:prSet presAssocID="{5EB5484D-899A-4842-AB13-8585D0902C33}" presName="compNode" presStyleCnt="0"/>
      <dgm:spPr/>
    </dgm:pt>
    <dgm:pt modelId="{5FCD7474-1893-4438-9D13-414E6E63886E}" type="pres">
      <dgm:prSet presAssocID="{5EB5484D-899A-4842-AB13-8585D0902C33}" presName="bgRect" presStyleLbl="bgShp" presStyleIdx="2" presStyleCnt="6"/>
      <dgm:spPr/>
    </dgm:pt>
    <dgm:pt modelId="{674A2195-302E-4EF7-B650-C37D769F1F02}" type="pres">
      <dgm:prSet presAssocID="{5EB5484D-899A-4842-AB13-8585D0902C33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37DAE3DE-A957-4031-9B52-5B8A9C1F3BE8}" type="pres">
      <dgm:prSet presAssocID="{5EB5484D-899A-4842-AB13-8585D0902C33}" presName="spaceRect" presStyleCnt="0"/>
      <dgm:spPr/>
    </dgm:pt>
    <dgm:pt modelId="{0620A0B1-BAD8-46AF-8819-E55613C29469}" type="pres">
      <dgm:prSet presAssocID="{5EB5484D-899A-4842-AB13-8585D0902C33}" presName="parTx" presStyleLbl="revTx" presStyleIdx="2" presStyleCnt="6">
        <dgm:presLayoutVars>
          <dgm:chMax val="0"/>
          <dgm:chPref val="0"/>
        </dgm:presLayoutVars>
      </dgm:prSet>
      <dgm:spPr/>
    </dgm:pt>
    <dgm:pt modelId="{FAEEFF25-85AA-4CC6-90B6-B9B56B03D9B9}" type="pres">
      <dgm:prSet presAssocID="{D128D8AF-4BD1-49EE-B925-31E266B3E2E4}" presName="sibTrans" presStyleCnt="0"/>
      <dgm:spPr/>
    </dgm:pt>
    <dgm:pt modelId="{73BF121C-0258-46E4-A4D2-E513D62730EF}" type="pres">
      <dgm:prSet presAssocID="{25F15D01-56B3-4847-A268-183D1F7C3894}" presName="compNode" presStyleCnt="0"/>
      <dgm:spPr/>
    </dgm:pt>
    <dgm:pt modelId="{DF4FD0BC-5B14-4CCE-8E3D-6E1BAB527638}" type="pres">
      <dgm:prSet presAssocID="{25F15D01-56B3-4847-A268-183D1F7C3894}" presName="bgRect" presStyleLbl="bgShp" presStyleIdx="3" presStyleCnt="6"/>
      <dgm:spPr/>
    </dgm:pt>
    <dgm:pt modelId="{4984C857-386F-4B07-983F-E79597757B27}" type="pres">
      <dgm:prSet presAssocID="{25F15D01-56B3-4847-A268-183D1F7C3894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6C69CFB1-67CF-4D99-A6FC-7E127A2DB2F2}" type="pres">
      <dgm:prSet presAssocID="{25F15D01-56B3-4847-A268-183D1F7C3894}" presName="spaceRect" presStyleCnt="0"/>
      <dgm:spPr/>
    </dgm:pt>
    <dgm:pt modelId="{60205462-EF8D-4D59-9C9C-ED992AF2D28B}" type="pres">
      <dgm:prSet presAssocID="{25F15D01-56B3-4847-A268-183D1F7C3894}" presName="parTx" presStyleLbl="revTx" presStyleIdx="3" presStyleCnt="6">
        <dgm:presLayoutVars>
          <dgm:chMax val="0"/>
          <dgm:chPref val="0"/>
        </dgm:presLayoutVars>
      </dgm:prSet>
      <dgm:spPr/>
    </dgm:pt>
    <dgm:pt modelId="{FA6A2DAC-A0DE-4EBD-8122-22CC23D4B3C7}" type="pres">
      <dgm:prSet presAssocID="{AB6964D6-F3D8-4F3B-98CA-0F9536395017}" presName="sibTrans" presStyleCnt="0"/>
      <dgm:spPr/>
    </dgm:pt>
    <dgm:pt modelId="{D9859088-3683-4B38-9A27-FC1069219459}" type="pres">
      <dgm:prSet presAssocID="{2477C451-4F0E-4624-9C4B-9370FA9DCA5B}" presName="compNode" presStyleCnt="0"/>
      <dgm:spPr/>
    </dgm:pt>
    <dgm:pt modelId="{8942CD99-6C2B-4897-A9FB-20C7C006370A}" type="pres">
      <dgm:prSet presAssocID="{2477C451-4F0E-4624-9C4B-9370FA9DCA5B}" presName="bgRect" presStyleLbl="bgShp" presStyleIdx="4" presStyleCnt="6"/>
      <dgm:spPr/>
    </dgm:pt>
    <dgm:pt modelId="{6479191D-774F-4C57-9AE0-3F577AC72B29}" type="pres">
      <dgm:prSet presAssocID="{2477C451-4F0E-4624-9C4B-9370FA9DCA5B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rawl"/>
        </a:ext>
      </dgm:extLst>
    </dgm:pt>
    <dgm:pt modelId="{DD3AFCA4-820D-4885-98A5-F2DA3B17941B}" type="pres">
      <dgm:prSet presAssocID="{2477C451-4F0E-4624-9C4B-9370FA9DCA5B}" presName="spaceRect" presStyleCnt="0"/>
      <dgm:spPr/>
    </dgm:pt>
    <dgm:pt modelId="{28002813-E48D-4948-ADED-C628BC1EFC79}" type="pres">
      <dgm:prSet presAssocID="{2477C451-4F0E-4624-9C4B-9370FA9DCA5B}" presName="parTx" presStyleLbl="revTx" presStyleIdx="4" presStyleCnt="6">
        <dgm:presLayoutVars>
          <dgm:chMax val="0"/>
          <dgm:chPref val="0"/>
        </dgm:presLayoutVars>
      </dgm:prSet>
      <dgm:spPr/>
    </dgm:pt>
    <dgm:pt modelId="{0EE47612-3774-4F9C-A717-73E4080F0C1B}" type="pres">
      <dgm:prSet presAssocID="{BC8EBD5D-AB40-4085-95DD-5098EE0543CB}" presName="sibTrans" presStyleCnt="0"/>
      <dgm:spPr/>
    </dgm:pt>
    <dgm:pt modelId="{2EA54B08-5CDB-44DD-9F2B-D48A6C01DE8A}" type="pres">
      <dgm:prSet presAssocID="{4EA24EC8-41F1-4003-9D86-AC4EA349BFD9}" presName="compNode" presStyleCnt="0"/>
      <dgm:spPr/>
    </dgm:pt>
    <dgm:pt modelId="{3D2EA747-B510-4D80-9BD4-1C3D208B691D}" type="pres">
      <dgm:prSet presAssocID="{4EA24EC8-41F1-4003-9D86-AC4EA349BFD9}" presName="bgRect" presStyleLbl="bgShp" presStyleIdx="5" presStyleCnt="6"/>
      <dgm:spPr/>
    </dgm:pt>
    <dgm:pt modelId="{21A6BD80-01FF-4868-BB3B-E9DD9E124E94}" type="pres">
      <dgm:prSet presAssocID="{4EA24EC8-41F1-4003-9D86-AC4EA349BFD9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AE2BCA94-35BB-4A05-A5EC-8F646CA61532}" type="pres">
      <dgm:prSet presAssocID="{4EA24EC8-41F1-4003-9D86-AC4EA349BFD9}" presName="spaceRect" presStyleCnt="0"/>
      <dgm:spPr/>
    </dgm:pt>
    <dgm:pt modelId="{8CB3CD67-A9C4-4D29-80EE-2E4681490704}" type="pres">
      <dgm:prSet presAssocID="{4EA24EC8-41F1-4003-9D86-AC4EA349BFD9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F23E5D14-3D80-46C9-9D26-0570EB7CF324}" type="presOf" srcId="{89399F85-BB74-43C9-810E-2D3A64111C79}" destId="{6839CA12-8B37-4745-91C8-5D8AE751F258}" srcOrd="0" destOrd="0" presId="urn:microsoft.com/office/officeart/2018/2/layout/IconVerticalSolidList"/>
    <dgm:cxn modelId="{CEF2A726-C1A5-4245-B889-5E7D374BA0FC}" srcId="{89399F85-BB74-43C9-810E-2D3A64111C79}" destId="{2477C451-4F0E-4624-9C4B-9370FA9DCA5B}" srcOrd="4" destOrd="0" parTransId="{9E3A29E3-8D90-48CC-8360-5905C55B0AE9}" sibTransId="{BC8EBD5D-AB40-4085-95DD-5098EE0543CB}"/>
    <dgm:cxn modelId="{4ACB4037-1431-402A-9118-781B8779B195}" type="presOf" srcId="{465CA7B7-39CB-40C5-BB86-5057361010AC}" destId="{691ADFE5-7A45-44D5-BA05-C4910D39A8D9}" srcOrd="0" destOrd="0" presId="urn:microsoft.com/office/officeart/2018/2/layout/IconVerticalSolidList"/>
    <dgm:cxn modelId="{27DE643C-9132-4A74-BAB9-9DF1E1F0D9BA}" type="presOf" srcId="{2477C451-4F0E-4624-9C4B-9370FA9DCA5B}" destId="{28002813-E48D-4948-ADED-C628BC1EFC79}" srcOrd="0" destOrd="0" presId="urn:microsoft.com/office/officeart/2018/2/layout/IconVerticalSolidList"/>
    <dgm:cxn modelId="{6552843D-D775-40FF-B447-1CFD3F6516D9}" srcId="{89399F85-BB74-43C9-810E-2D3A64111C79}" destId="{25F15D01-56B3-4847-A268-183D1F7C3894}" srcOrd="3" destOrd="0" parTransId="{84449DB5-1641-465E-8187-F5416D496E11}" sibTransId="{AB6964D6-F3D8-4F3B-98CA-0F9536395017}"/>
    <dgm:cxn modelId="{2724AE48-1079-4B48-9875-5DAA94C84974}" srcId="{89399F85-BB74-43C9-810E-2D3A64111C79}" destId="{4EA24EC8-41F1-4003-9D86-AC4EA349BFD9}" srcOrd="5" destOrd="0" parTransId="{D3B9BA4B-66DC-49C0-B834-F894C9D933AA}" sibTransId="{CDADD8FC-DDC2-4464-851B-256DB30C0CF5}"/>
    <dgm:cxn modelId="{A7B00394-2737-4FCC-B262-200139274D6B}" srcId="{89399F85-BB74-43C9-810E-2D3A64111C79}" destId="{465CA7B7-39CB-40C5-BB86-5057361010AC}" srcOrd="0" destOrd="0" parTransId="{EE443BBC-A2E7-46A0-9C89-DA9862AE771C}" sibTransId="{DC5B64F9-3B0E-4057-A106-9C1A732CDA34}"/>
    <dgm:cxn modelId="{44A919A4-DE3A-4F15-9B05-AD846435AD08}" type="presOf" srcId="{4EA24EC8-41F1-4003-9D86-AC4EA349BFD9}" destId="{8CB3CD67-A9C4-4D29-80EE-2E4681490704}" srcOrd="0" destOrd="0" presId="urn:microsoft.com/office/officeart/2018/2/layout/IconVerticalSolidList"/>
    <dgm:cxn modelId="{9300EFAA-7302-43D6-AE6F-F30DCE4404B6}" srcId="{89399F85-BB74-43C9-810E-2D3A64111C79}" destId="{F430BD45-8C87-433B-84F6-B07CC7610C69}" srcOrd="1" destOrd="0" parTransId="{6CA16F0B-D6C7-4C74-80AA-F220CE86F2E9}" sibTransId="{9F789B65-94FA-46E8-A18C-52D9DA966561}"/>
    <dgm:cxn modelId="{7C7ECCBE-6143-4E4F-9AE5-4E30966BF9C7}" type="presOf" srcId="{5EB5484D-899A-4842-AB13-8585D0902C33}" destId="{0620A0B1-BAD8-46AF-8819-E55613C29469}" srcOrd="0" destOrd="0" presId="urn:microsoft.com/office/officeart/2018/2/layout/IconVerticalSolidList"/>
    <dgm:cxn modelId="{5202DBC3-0195-4DF4-81A1-CD1E80C8E331}" type="presOf" srcId="{F430BD45-8C87-433B-84F6-B07CC7610C69}" destId="{2D49CA9D-E1D3-4251-AE89-A26814D75512}" srcOrd="0" destOrd="0" presId="urn:microsoft.com/office/officeart/2018/2/layout/IconVerticalSolidList"/>
    <dgm:cxn modelId="{42EC3BC6-8313-4516-85A8-7BD86D88ED3F}" type="presOf" srcId="{25F15D01-56B3-4847-A268-183D1F7C3894}" destId="{60205462-EF8D-4D59-9C9C-ED992AF2D28B}" srcOrd="0" destOrd="0" presId="urn:microsoft.com/office/officeart/2018/2/layout/IconVerticalSolidList"/>
    <dgm:cxn modelId="{2A5FFCFB-B22C-442D-B8F1-4A0AB6982F5C}" srcId="{89399F85-BB74-43C9-810E-2D3A64111C79}" destId="{5EB5484D-899A-4842-AB13-8585D0902C33}" srcOrd="2" destOrd="0" parTransId="{EE76D667-9419-4353-800A-A95320E3C215}" sibTransId="{D128D8AF-4BD1-49EE-B925-31E266B3E2E4}"/>
    <dgm:cxn modelId="{45A60417-A8D5-443B-A162-D79420015F76}" type="presParOf" srcId="{6839CA12-8B37-4745-91C8-5D8AE751F258}" destId="{D11878F5-4EB3-42BA-AB18-99905399D377}" srcOrd="0" destOrd="0" presId="urn:microsoft.com/office/officeart/2018/2/layout/IconVerticalSolidList"/>
    <dgm:cxn modelId="{1058890B-ECA1-41F3-AE68-D29885B1317E}" type="presParOf" srcId="{D11878F5-4EB3-42BA-AB18-99905399D377}" destId="{6F9324A5-5CDF-4874-8475-059FE5ADCFBA}" srcOrd="0" destOrd="0" presId="urn:microsoft.com/office/officeart/2018/2/layout/IconVerticalSolidList"/>
    <dgm:cxn modelId="{DABD0794-8C88-4C7A-972C-2027FD0D4210}" type="presParOf" srcId="{D11878F5-4EB3-42BA-AB18-99905399D377}" destId="{1E0F599C-A879-497A-9EF8-5E5A93B5BB21}" srcOrd="1" destOrd="0" presId="urn:microsoft.com/office/officeart/2018/2/layout/IconVerticalSolidList"/>
    <dgm:cxn modelId="{2BA0167C-F43D-4BD2-A30C-681C9210C99F}" type="presParOf" srcId="{D11878F5-4EB3-42BA-AB18-99905399D377}" destId="{9EF784E3-7E42-4470-9B90-8BDACA6837E6}" srcOrd="2" destOrd="0" presId="urn:microsoft.com/office/officeart/2018/2/layout/IconVerticalSolidList"/>
    <dgm:cxn modelId="{34E6A1FB-4CD9-4ADB-9D53-70026083DCBA}" type="presParOf" srcId="{D11878F5-4EB3-42BA-AB18-99905399D377}" destId="{691ADFE5-7A45-44D5-BA05-C4910D39A8D9}" srcOrd="3" destOrd="0" presId="urn:microsoft.com/office/officeart/2018/2/layout/IconVerticalSolidList"/>
    <dgm:cxn modelId="{33D9C816-DBE4-4CF5-AF93-82584E9583D8}" type="presParOf" srcId="{6839CA12-8B37-4745-91C8-5D8AE751F258}" destId="{190759E7-9E00-41A1-B654-6D41B058F875}" srcOrd="1" destOrd="0" presId="urn:microsoft.com/office/officeart/2018/2/layout/IconVerticalSolidList"/>
    <dgm:cxn modelId="{FEBD9E4C-B156-48C9-B1CE-E102CF181375}" type="presParOf" srcId="{6839CA12-8B37-4745-91C8-5D8AE751F258}" destId="{B68831F0-9AB3-4196-9B2F-EF77BA389057}" srcOrd="2" destOrd="0" presId="urn:microsoft.com/office/officeart/2018/2/layout/IconVerticalSolidList"/>
    <dgm:cxn modelId="{7790B1F8-336C-4093-A836-62D58AC87CF1}" type="presParOf" srcId="{B68831F0-9AB3-4196-9B2F-EF77BA389057}" destId="{9C9D7972-7AD0-4379-A59E-A513CA763DA5}" srcOrd="0" destOrd="0" presId="urn:microsoft.com/office/officeart/2018/2/layout/IconVerticalSolidList"/>
    <dgm:cxn modelId="{56F17338-AC5B-4AB2-A9D2-309D3E695E3B}" type="presParOf" srcId="{B68831F0-9AB3-4196-9B2F-EF77BA389057}" destId="{3650D649-A2E8-4D0D-9767-285F3C3AB85E}" srcOrd="1" destOrd="0" presId="urn:microsoft.com/office/officeart/2018/2/layout/IconVerticalSolidList"/>
    <dgm:cxn modelId="{6931C86F-519B-4918-9444-11CFD43BC71D}" type="presParOf" srcId="{B68831F0-9AB3-4196-9B2F-EF77BA389057}" destId="{0E2C4B56-9B3A-4386-B475-EA16EDD1FC0F}" srcOrd="2" destOrd="0" presId="urn:microsoft.com/office/officeart/2018/2/layout/IconVerticalSolidList"/>
    <dgm:cxn modelId="{2AA51791-AA57-4288-AEE1-B11F44BA87EC}" type="presParOf" srcId="{B68831F0-9AB3-4196-9B2F-EF77BA389057}" destId="{2D49CA9D-E1D3-4251-AE89-A26814D75512}" srcOrd="3" destOrd="0" presId="urn:microsoft.com/office/officeart/2018/2/layout/IconVerticalSolidList"/>
    <dgm:cxn modelId="{765FB37E-33AE-4E7C-840E-EB670C7CB755}" type="presParOf" srcId="{6839CA12-8B37-4745-91C8-5D8AE751F258}" destId="{E1CBEC80-B558-4F57-AC81-EA5A1902BEA6}" srcOrd="3" destOrd="0" presId="urn:microsoft.com/office/officeart/2018/2/layout/IconVerticalSolidList"/>
    <dgm:cxn modelId="{79E76FFB-1D0F-4649-9A9A-AFFD68A7AFAC}" type="presParOf" srcId="{6839CA12-8B37-4745-91C8-5D8AE751F258}" destId="{9338AFCB-2358-4BA7-A015-83C7744C9623}" srcOrd="4" destOrd="0" presId="urn:microsoft.com/office/officeart/2018/2/layout/IconVerticalSolidList"/>
    <dgm:cxn modelId="{97D52AB6-D94A-4C74-A27E-349B0BFD6338}" type="presParOf" srcId="{9338AFCB-2358-4BA7-A015-83C7744C9623}" destId="{5FCD7474-1893-4438-9D13-414E6E63886E}" srcOrd="0" destOrd="0" presId="urn:microsoft.com/office/officeart/2018/2/layout/IconVerticalSolidList"/>
    <dgm:cxn modelId="{B13249AA-93B6-4A1D-8A80-CB98A54351E6}" type="presParOf" srcId="{9338AFCB-2358-4BA7-A015-83C7744C9623}" destId="{674A2195-302E-4EF7-B650-C37D769F1F02}" srcOrd="1" destOrd="0" presId="urn:microsoft.com/office/officeart/2018/2/layout/IconVerticalSolidList"/>
    <dgm:cxn modelId="{144CAE6C-70C6-42E4-AEC4-B5B25AB05576}" type="presParOf" srcId="{9338AFCB-2358-4BA7-A015-83C7744C9623}" destId="{37DAE3DE-A957-4031-9B52-5B8A9C1F3BE8}" srcOrd="2" destOrd="0" presId="urn:microsoft.com/office/officeart/2018/2/layout/IconVerticalSolidList"/>
    <dgm:cxn modelId="{19BF1A14-D8A6-4039-9858-BFEACBA4BAB1}" type="presParOf" srcId="{9338AFCB-2358-4BA7-A015-83C7744C9623}" destId="{0620A0B1-BAD8-46AF-8819-E55613C29469}" srcOrd="3" destOrd="0" presId="urn:microsoft.com/office/officeart/2018/2/layout/IconVerticalSolidList"/>
    <dgm:cxn modelId="{942D199D-9A08-43D0-96A5-FDD8EF7CAF25}" type="presParOf" srcId="{6839CA12-8B37-4745-91C8-5D8AE751F258}" destId="{FAEEFF25-85AA-4CC6-90B6-B9B56B03D9B9}" srcOrd="5" destOrd="0" presId="urn:microsoft.com/office/officeart/2018/2/layout/IconVerticalSolidList"/>
    <dgm:cxn modelId="{078DAE0D-748D-400E-87B7-574AD76BC692}" type="presParOf" srcId="{6839CA12-8B37-4745-91C8-5D8AE751F258}" destId="{73BF121C-0258-46E4-A4D2-E513D62730EF}" srcOrd="6" destOrd="0" presId="urn:microsoft.com/office/officeart/2018/2/layout/IconVerticalSolidList"/>
    <dgm:cxn modelId="{15E30D82-3A57-4649-99FB-2CA3DCBE7480}" type="presParOf" srcId="{73BF121C-0258-46E4-A4D2-E513D62730EF}" destId="{DF4FD0BC-5B14-4CCE-8E3D-6E1BAB527638}" srcOrd="0" destOrd="0" presId="urn:microsoft.com/office/officeart/2018/2/layout/IconVerticalSolidList"/>
    <dgm:cxn modelId="{659FF5D4-EB8A-4A65-8E70-D429FF638AB0}" type="presParOf" srcId="{73BF121C-0258-46E4-A4D2-E513D62730EF}" destId="{4984C857-386F-4B07-983F-E79597757B27}" srcOrd="1" destOrd="0" presId="urn:microsoft.com/office/officeart/2018/2/layout/IconVerticalSolidList"/>
    <dgm:cxn modelId="{2EAD6D9C-4944-437B-B3C0-1BFC770A2B1C}" type="presParOf" srcId="{73BF121C-0258-46E4-A4D2-E513D62730EF}" destId="{6C69CFB1-67CF-4D99-A6FC-7E127A2DB2F2}" srcOrd="2" destOrd="0" presId="urn:microsoft.com/office/officeart/2018/2/layout/IconVerticalSolidList"/>
    <dgm:cxn modelId="{19B825B9-D3A3-4EF8-80D7-A93BB994CB4C}" type="presParOf" srcId="{73BF121C-0258-46E4-A4D2-E513D62730EF}" destId="{60205462-EF8D-4D59-9C9C-ED992AF2D28B}" srcOrd="3" destOrd="0" presId="urn:microsoft.com/office/officeart/2018/2/layout/IconVerticalSolidList"/>
    <dgm:cxn modelId="{5FCA05EB-855F-4189-9052-A59D104C6E68}" type="presParOf" srcId="{6839CA12-8B37-4745-91C8-5D8AE751F258}" destId="{FA6A2DAC-A0DE-4EBD-8122-22CC23D4B3C7}" srcOrd="7" destOrd="0" presId="urn:microsoft.com/office/officeart/2018/2/layout/IconVerticalSolidList"/>
    <dgm:cxn modelId="{A345D1C1-3CAC-489A-B23B-ACC55D12F724}" type="presParOf" srcId="{6839CA12-8B37-4745-91C8-5D8AE751F258}" destId="{D9859088-3683-4B38-9A27-FC1069219459}" srcOrd="8" destOrd="0" presId="urn:microsoft.com/office/officeart/2018/2/layout/IconVerticalSolidList"/>
    <dgm:cxn modelId="{7E5BD4DD-0032-48E5-AD79-C59664E867F1}" type="presParOf" srcId="{D9859088-3683-4B38-9A27-FC1069219459}" destId="{8942CD99-6C2B-4897-A9FB-20C7C006370A}" srcOrd="0" destOrd="0" presId="urn:microsoft.com/office/officeart/2018/2/layout/IconVerticalSolidList"/>
    <dgm:cxn modelId="{36F234D9-0BB7-4369-AAE6-F1DB490F929C}" type="presParOf" srcId="{D9859088-3683-4B38-9A27-FC1069219459}" destId="{6479191D-774F-4C57-9AE0-3F577AC72B29}" srcOrd="1" destOrd="0" presId="urn:microsoft.com/office/officeart/2018/2/layout/IconVerticalSolidList"/>
    <dgm:cxn modelId="{46D10920-A207-4D4E-B4CF-2E61C0BD8A2A}" type="presParOf" srcId="{D9859088-3683-4B38-9A27-FC1069219459}" destId="{DD3AFCA4-820D-4885-98A5-F2DA3B17941B}" srcOrd="2" destOrd="0" presId="urn:microsoft.com/office/officeart/2018/2/layout/IconVerticalSolidList"/>
    <dgm:cxn modelId="{E91D3868-495F-433C-B53C-04F40AC4B850}" type="presParOf" srcId="{D9859088-3683-4B38-9A27-FC1069219459}" destId="{28002813-E48D-4948-ADED-C628BC1EFC79}" srcOrd="3" destOrd="0" presId="urn:microsoft.com/office/officeart/2018/2/layout/IconVerticalSolidList"/>
    <dgm:cxn modelId="{1DC8E3DA-FC85-4197-A559-F1930AE340F3}" type="presParOf" srcId="{6839CA12-8B37-4745-91C8-5D8AE751F258}" destId="{0EE47612-3774-4F9C-A717-73E4080F0C1B}" srcOrd="9" destOrd="0" presId="urn:microsoft.com/office/officeart/2018/2/layout/IconVerticalSolidList"/>
    <dgm:cxn modelId="{A191E942-9063-4A39-B342-90CACDAD49F3}" type="presParOf" srcId="{6839CA12-8B37-4745-91C8-5D8AE751F258}" destId="{2EA54B08-5CDB-44DD-9F2B-D48A6C01DE8A}" srcOrd="10" destOrd="0" presId="urn:microsoft.com/office/officeart/2018/2/layout/IconVerticalSolidList"/>
    <dgm:cxn modelId="{272931FB-2FC7-4166-8DC2-63E4E1A99342}" type="presParOf" srcId="{2EA54B08-5CDB-44DD-9F2B-D48A6C01DE8A}" destId="{3D2EA747-B510-4D80-9BD4-1C3D208B691D}" srcOrd="0" destOrd="0" presId="urn:microsoft.com/office/officeart/2018/2/layout/IconVerticalSolidList"/>
    <dgm:cxn modelId="{30004661-8DF8-4810-8230-57B6D20A57FD}" type="presParOf" srcId="{2EA54B08-5CDB-44DD-9F2B-D48A6C01DE8A}" destId="{21A6BD80-01FF-4868-BB3B-E9DD9E124E94}" srcOrd="1" destOrd="0" presId="urn:microsoft.com/office/officeart/2018/2/layout/IconVerticalSolidList"/>
    <dgm:cxn modelId="{9233AC7D-EF27-435B-AF8E-D2F1AE19B2CD}" type="presParOf" srcId="{2EA54B08-5CDB-44DD-9F2B-D48A6C01DE8A}" destId="{AE2BCA94-35BB-4A05-A5EC-8F646CA61532}" srcOrd="2" destOrd="0" presId="urn:microsoft.com/office/officeart/2018/2/layout/IconVerticalSolidList"/>
    <dgm:cxn modelId="{E7DEDAD6-8EBF-4ABA-BADF-2509C659AF89}" type="presParOf" srcId="{2EA54B08-5CDB-44DD-9F2B-D48A6C01DE8A}" destId="{8CB3CD67-A9C4-4D29-80EE-2E468149070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9324A5-5CDF-4874-8475-059FE5ADCFBA}">
      <dsp:nvSpPr>
        <dsp:cNvPr id="0" name=""/>
        <dsp:cNvSpPr/>
      </dsp:nvSpPr>
      <dsp:spPr>
        <a:xfrm>
          <a:off x="0" y="2991"/>
          <a:ext cx="4556480" cy="46421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0F599C-A879-497A-9EF8-5E5A93B5BB21}">
      <dsp:nvSpPr>
        <dsp:cNvPr id="0" name=""/>
        <dsp:cNvSpPr/>
      </dsp:nvSpPr>
      <dsp:spPr>
        <a:xfrm>
          <a:off x="140426" y="107441"/>
          <a:ext cx="255570" cy="2553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1ADFE5-7A45-44D5-BA05-C4910D39A8D9}">
      <dsp:nvSpPr>
        <dsp:cNvPr id="0" name=""/>
        <dsp:cNvSpPr/>
      </dsp:nvSpPr>
      <dsp:spPr>
        <a:xfrm>
          <a:off x="536422" y="2991"/>
          <a:ext cx="3995823" cy="5077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736" tIns="53736" rIns="53736" bIns="53736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Modern AI systems have evolved rapidly, increasing both capability and autonomy.</a:t>
          </a:r>
        </a:p>
      </dsp:txBody>
      <dsp:txXfrm>
        <a:off x="536422" y="2991"/>
        <a:ext cx="3995823" cy="507739"/>
      </dsp:txXfrm>
    </dsp:sp>
    <dsp:sp modelId="{9C9D7972-7AD0-4379-A59E-A513CA763DA5}">
      <dsp:nvSpPr>
        <dsp:cNvPr id="0" name=""/>
        <dsp:cNvSpPr/>
      </dsp:nvSpPr>
      <dsp:spPr>
        <a:xfrm>
          <a:off x="0" y="637666"/>
          <a:ext cx="4556480" cy="46421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50D649-A2E8-4D0D-9767-285F3C3AB85E}">
      <dsp:nvSpPr>
        <dsp:cNvPr id="0" name=""/>
        <dsp:cNvSpPr/>
      </dsp:nvSpPr>
      <dsp:spPr>
        <a:xfrm>
          <a:off x="140426" y="742115"/>
          <a:ext cx="255570" cy="2553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49CA9D-E1D3-4251-AE89-A26814D75512}">
      <dsp:nvSpPr>
        <dsp:cNvPr id="0" name=""/>
        <dsp:cNvSpPr/>
      </dsp:nvSpPr>
      <dsp:spPr>
        <a:xfrm>
          <a:off x="536422" y="637666"/>
          <a:ext cx="3995823" cy="5077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736" tIns="53736" rIns="53736" bIns="53736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Capability progression</a:t>
          </a:r>
          <a:endParaRPr lang="en-US" sz="1400" kern="1200"/>
        </a:p>
      </dsp:txBody>
      <dsp:txXfrm>
        <a:off x="536422" y="637666"/>
        <a:ext cx="3995823" cy="507739"/>
      </dsp:txXfrm>
    </dsp:sp>
    <dsp:sp modelId="{5FCD7474-1893-4438-9D13-414E6E63886E}">
      <dsp:nvSpPr>
        <dsp:cNvPr id="0" name=""/>
        <dsp:cNvSpPr/>
      </dsp:nvSpPr>
      <dsp:spPr>
        <a:xfrm>
          <a:off x="0" y="1272340"/>
          <a:ext cx="4556480" cy="46421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4A2195-302E-4EF7-B650-C37D769F1F02}">
      <dsp:nvSpPr>
        <dsp:cNvPr id="0" name=""/>
        <dsp:cNvSpPr/>
      </dsp:nvSpPr>
      <dsp:spPr>
        <a:xfrm>
          <a:off x="140426" y="1376790"/>
          <a:ext cx="255570" cy="2553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20A0B1-BAD8-46AF-8819-E55613C29469}">
      <dsp:nvSpPr>
        <dsp:cNvPr id="0" name=""/>
        <dsp:cNvSpPr/>
      </dsp:nvSpPr>
      <dsp:spPr>
        <a:xfrm>
          <a:off x="536422" y="1272340"/>
          <a:ext cx="3995823" cy="5077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736" tIns="53736" rIns="53736" bIns="53736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Chatbot</a:t>
          </a:r>
          <a:r>
            <a:rPr lang="en-US" sz="1400" kern="1200"/>
            <a:t> → generates text responses only</a:t>
          </a:r>
        </a:p>
      </dsp:txBody>
      <dsp:txXfrm>
        <a:off x="536422" y="1272340"/>
        <a:ext cx="3995823" cy="507739"/>
      </dsp:txXfrm>
    </dsp:sp>
    <dsp:sp modelId="{DF4FD0BC-5B14-4CCE-8E3D-6E1BAB527638}">
      <dsp:nvSpPr>
        <dsp:cNvPr id="0" name=""/>
        <dsp:cNvSpPr/>
      </dsp:nvSpPr>
      <dsp:spPr>
        <a:xfrm>
          <a:off x="0" y="1907015"/>
          <a:ext cx="4556480" cy="46421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84C857-386F-4B07-983F-E79597757B27}">
      <dsp:nvSpPr>
        <dsp:cNvPr id="0" name=""/>
        <dsp:cNvSpPr/>
      </dsp:nvSpPr>
      <dsp:spPr>
        <a:xfrm>
          <a:off x="140426" y="2011464"/>
          <a:ext cx="255570" cy="2553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205462-EF8D-4D59-9C9C-ED992AF2D28B}">
      <dsp:nvSpPr>
        <dsp:cNvPr id="0" name=""/>
        <dsp:cNvSpPr/>
      </dsp:nvSpPr>
      <dsp:spPr>
        <a:xfrm>
          <a:off x="536422" y="1907015"/>
          <a:ext cx="3995823" cy="5077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736" tIns="53736" rIns="53736" bIns="53736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Tool-Using LLM</a:t>
          </a:r>
          <a:r>
            <a:rPr lang="en-US" sz="1400" kern="1200"/>
            <a:t> → can call external APIs/tools</a:t>
          </a:r>
        </a:p>
      </dsp:txBody>
      <dsp:txXfrm>
        <a:off x="536422" y="1907015"/>
        <a:ext cx="3995823" cy="507739"/>
      </dsp:txXfrm>
    </dsp:sp>
    <dsp:sp modelId="{8942CD99-6C2B-4897-A9FB-20C7C006370A}">
      <dsp:nvSpPr>
        <dsp:cNvPr id="0" name=""/>
        <dsp:cNvSpPr/>
      </dsp:nvSpPr>
      <dsp:spPr>
        <a:xfrm>
          <a:off x="0" y="2541689"/>
          <a:ext cx="4556480" cy="46421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79191D-774F-4C57-9AE0-3F577AC72B29}">
      <dsp:nvSpPr>
        <dsp:cNvPr id="0" name=""/>
        <dsp:cNvSpPr/>
      </dsp:nvSpPr>
      <dsp:spPr>
        <a:xfrm>
          <a:off x="140426" y="2646139"/>
          <a:ext cx="255570" cy="25532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002813-E48D-4948-ADED-C628BC1EFC79}">
      <dsp:nvSpPr>
        <dsp:cNvPr id="0" name=""/>
        <dsp:cNvSpPr/>
      </dsp:nvSpPr>
      <dsp:spPr>
        <a:xfrm>
          <a:off x="536422" y="2541689"/>
          <a:ext cx="3995823" cy="5077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736" tIns="53736" rIns="53736" bIns="53736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Autonomous Agent</a:t>
          </a:r>
          <a:r>
            <a:rPr lang="en-US" sz="1400" kern="1200"/>
            <a:t> → performs multi-step reasoning and actions</a:t>
          </a:r>
        </a:p>
      </dsp:txBody>
      <dsp:txXfrm>
        <a:off x="536422" y="2541689"/>
        <a:ext cx="3995823" cy="507739"/>
      </dsp:txXfrm>
    </dsp:sp>
    <dsp:sp modelId="{3D2EA747-B510-4D80-9BD4-1C3D208B691D}">
      <dsp:nvSpPr>
        <dsp:cNvPr id="0" name=""/>
        <dsp:cNvSpPr/>
      </dsp:nvSpPr>
      <dsp:spPr>
        <a:xfrm>
          <a:off x="0" y="3176364"/>
          <a:ext cx="4556480" cy="46421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A6BD80-01FF-4868-BB3B-E9DD9E124E94}">
      <dsp:nvSpPr>
        <dsp:cNvPr id="0" name=""/>
        <dsp:cNvSpPr/>
      </dsp:nvSpPr>
      <dsp:spPr>
        <a:xfrm>
          <a:off x="140426" y="3280813"/>
          <a:ext cx="255570" cy="25532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B3CD67-A9C4-4D29-80EE-2E4681490704}">
      <dsp:nvSpPr>
        <dsp:cNvPr id="0" name=""/>
        <dsp:cNvSpPr/>
      </dsp:nvSpPr>
      <dsp:spPr>
        <a:xfrm>
          <a:off x="536422" y="3176364"/>
          <a:ext cx="3995823" cy="5077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736" tIns="53736" rIns="53736" bIns="53736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Multi-Agent System</a:t>
          </a:r>
          <a:r>
            <a:rPr lang="en-US" sz="1400" kern="1200"/>
            <a:t> → multiple agents collaborate toward a goal</a:t>
          </a:r>
        </a:p>
      </dsp:txBody>
      <dsp:txXfrm>
        <a:off x="536422" y="3176364"/>
        <a:ext cx="3995823" cy="5077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BA8E45-9139-4F63-9DD8-848869BEEC1F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E2195D-B5BB-4A06-B0CC-F8ACFB1BF5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865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CAFDD-34A2-1CB3-9925-2402CF3711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1ADBFB-D859-DE56-01B2-62344FEF54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F226A-3157-D13C-0EDA-C2FA1B99A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FC69A-EC55-4DD9-A962-FA027EF7A412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317359-2DDD-051F-B01B-183EA9A17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DE1B80-9AE4-9060-D3DA-FEFF9296B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419CC-7B9E-42F8-BFA9-0099B4912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440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97A00-CF27-FA1C-4A22-06E47DE46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5B352F-14BD-7C85-6624-1F162465CC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6B9CC8-31C4-181E-F916-6C9252F1B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FC69A-EC55-4DD9-A962-FA027EF7A412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E29BA6-D22F-C1F5-3EBF-05B0F725E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A2DBE8-304A-F1EB-63E9-4CFCAB7A3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419CC-7B9E-42F8-BFA9-0099B4912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726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C6701-06C6-DF93-0C10-762273E03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97B4D1-1138-AFE0-82F0-EBCF9A68D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9D1053-5573-2C3D-D48D-CB7C6C523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FC69A-EC55-4DD9-A962-FA027EF7A412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9D97CC-77E9-81E1-1F05-DB3DF2E97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5AFE9-CFD9-8C43-DFC0-D9AD229CE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419CC-7B9E-42F8-BFA9-0099B4912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017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1A5EF-520C-BF00-D595-F40BC21A2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94178-DAF0-8491-62B1-6B411F083D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24687E-1384-9AD3-268A-55B33CE647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E46B12-64F8-BBC8-89FC-A085A3D09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FC69A-EC55-4DD9-A962-FA027EF7A412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8EA02A-86FB-46D3-3C36-A817DB255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994DAB-5F8C-8A28-7904-39C1FFF6F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419CC-7B9E-42F8-BFA9-0099B4912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03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538F3-3552-0B17-76B8-51733442C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2C6C98-35B8-0FF5-843E-624ADF439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74C6E8-D0EE-6992-19DD-9CC564B7B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FB790D-D6ED-E0C8-4F9F-00FD11A11A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D1FCA0-1106-4907-9607-509B637DEB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FA5CFC-F982-C9F3-BA79-0E33924BF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FC69A-EC55-4DD9-A962-FA027EF7A412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9712B6-0F50-CDAE-69FD-3ACF8A92C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F0B22A-1759-9605-B5EB-810E4EA09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419CC-7B9E-42F8-BFA9-0099B4912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681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84375-5CCD-50E4-1AB7-DC47E4CDA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A230F1-53A7-031C-DEF8-5DD86C302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FC69A-EC55-4DD9-A962-FA027EF7A412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2D1710-2F79-644C-8E34-F194ED855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1882D-85DE-8B55-6072-9131277F1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419CC-7B9E-42F8-BFA9-0099B4912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40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755B24-FD47-8DDB-111C-E70E1CFBD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FC69A-EC55-4DD9-A962-FA027EF7A412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B13B60-9AD6-07D0-A536-C7B110980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B755AA-FCD8-6626-7C1A-CF6C6D9B4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419CC-7B9E-42F8-BFA9-0099B4912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2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62E3D-2EDA-A31E-B160-C5B41A18C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4EAF4-FA0D-5269-2EFA-CA52847A85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95F91C-19CB-018A-AB3A-2D05BAF95B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25A585-D818-BE08-10F2-C215B3482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FC69A-EC55-4DD9-A962-FA027EF7A412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8E3D8F-C81F-493D-0475-9CF4AADCF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2F4F57-7CC3-E4C8-7E7C-149A6EE26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419CC-7B9E-42F8-BFA9-0099B4912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180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0AF42-0D14-12AB-5D2D-3F38463BC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2ABA97-C3CF-F890-CFE5-5F3B744CCF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6C4AA6-B933-DF4B-2AAA-0B3EC4CE5C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9790C8-1C9D-1C45-D3F6-A40307FCD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FC69A-EC55-4DD9-A962-FA027EF7A412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EE2058-B926-9105-5043-CA4F7B9F5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8F5B90-BA2A-7627-35EC-4E4C19CBF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419CC-7B9E-42F8-BFA9-0099B4912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619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4BC5A-B2D6-031F-BD21-2B17A6866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F51EB1-826B-A0B0-C664-61A5010209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17A45B-EA90-5A93-A75D-AECD124DA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FC69A-EC55-4DD9-A962-FA027EF7A412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595D20-EC37-8709-69B3-D1B59B0FC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A52276-2529-B5F9-8286-313CECF3B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419CC-7B9E-42F8-BFA9-0099B4912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632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50FE33-8F9D-7FA7-E175-6EBDF73284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DB037D-46E5-DC8D-798C-5E86C2CE61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E84C5-7685-2E94-0DDC-C9CB9EF1E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FC69A-EC55-4DD9-A962-FA027EF7A412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9B7DFF-55BB-FBE7-0A7E-ADEF6895F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C8E9CF-F480-360B-CAC8-63F3BC864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419CC-7B9E-42F8-BFA9-0099B4912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428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CBA00A-D51E-EC4A-B332-7CF31A866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4ECA60-036D-6E0E-E2F2-2F9B2FD2BE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228C1-3BD7-6F22-9580-71EF515538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6FC69A-EC55-4DD9-A962-FA027EF7A412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270D63-FF49-F87B-BBA1-328E39551F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C3FDFB-A803-DA70-0BD0-C7B1FC53F8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5419CC-7B9E-42F8-BFA9-0099B4912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011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microsoft.github.io/autogen/" TargetMode="External"/><Relationship Id="rId3" Type="http://schemas.openxmlformats.org/officeDocument/2006/relationships/diagramLayout" Target="../diagrams/layout1.xml"/><Relationship Id="rId7" Type="http://schemas.openxmlformats.org/officeDocument/2006/relationships/image" Target="../media/image13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nodejs.org/" TargetMode="External"/><Relationship Id="rId2" Type="http://schemas.openxmlformats.org/officeDocument/2006/relationships/hyperlink" Target="https://ollama.com/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hyperlink" Target="https://ollama.com/" TargetMode="Externa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2891" y="1371600"/>
            <a:ext cx="987158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rPr dirty="0" err="1"/>
              <a:t>AgentEval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2807111" y="365760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/>
            </a:pPr>
            <a:r>
              <a:rPr dirty="0"/>
              <a:t>A Framework for Multi-Dimensional Utility Assessment</a:t>
            </a:r>
          </a:p>
          <a:p>
            <a:pPr>
              <a:spcBef>
                <a:spcPts val="1200"/>
              </a:spcBef>
            </a:pPr>
            <a:endParaRPr dirty="0"/>
          </a:p>
          <a:p>
            <a:pPr algn="ctr">
              <a:spcBef>
                <a:spcPts val="2400"/>
              </a:spcBef>
              <a:defRPr sz="2000"/>
            </a:pPr>
            <a:r>
              <a:rPr dirty="0"/>
              <a:t>Based on </a:t>
            </a:r>
            <a:r>
              <a:rPr dirty="0" err="1"/>
              <a:t>AutoGen</a:t>
            </a:r>
            <a:r>
              <a:rPr dirty="0"/>
              <a:t> Framework</a:t>
            </a:r>
          </a:p>
        </p:txBody>
      </p:sp>
    </p:spTree>
    <p:extLst>
      <p:ext uri="{BB962C8B-B14F-4D97-AF65-F5344CB8AC3E}">
        <p14:creationId xmlns:p14="http://schemas.microsoft.com/office/powerpoint/2010/main" val="9583151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2" name="Rectangle 121">
            <a:extLst>
              <a:ext uri="{FF2B5EF4-FFF2-40B4-BE49-F238E27FC236}">
                <a16:creationId xmlns:a16="http://schemas.microsoft.com/office/drawing/2014/main" id="{2029D5AD-8348-4446-B191-6A9B6FE03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4" name="Freeform: Shape 123">
            <a:extLst>
              <a:ext uri="{FF2B5EF4-FFF2-40B4-BE49-F238E27FC236}">
                <a16:creationId xmlns:a16="http://schemas.microsoft.com/office/drawing/2014/main" id="{A3F395A2-2B64-4749-BD93-2F159C7E1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1899601"/>
          </a:xfrm>
          <a:custGeom>
            <a:avLst/>
            <a:gdLst>
              <a:gd name="connsiteX0" fmla="*/ 0 w 12188952"/>
              <a:gd name="connsiteY0" fmla="*/ 0 h 1899601"/>
              <a:gd name="connsiteX1" fmla="*/ 12188952 w 12188952"/>
              <a:gd name="connsiteY1" fmla="*/ 0 h 1899601"/>
              <a:gd name="connsiteX2" fmla="*/ 12188952 w 12188952"/>
              <a:gd name="connsiteY2" fmla="*/ 1635106 h 1899601"/>
              <a:gd name="connsiteX3" fmla="*/ 11356325 w 12188952"/>
              <a:gd name="connsiteY3" fmla="*/ 1707615 h 1899601"/>
              <a:gd name="connsiteX4" fmla="*/ 6096001 w 12188952"/>
              <a:gd name="connsiteY4" fmla="*/ 1899601 h 1899601"/>
              <a:gd name="connsiteX5" fmla="*/ 835678 w 12188952"/>
              <a:gd name="connsiteY5" fmla="*/ 1707615 h 1899601"/>
              <a:gd name="connsiteX6" fmla="*/ 0 w 12188952"/>
              <a:gd name="connsiteY6" fmla="*/ 1634841 h 1899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88952" h="1899601">
                <a:moveTo>
                  <a:pt x="0" y="0"/>
                </a:moveTo>
                <a:lnTo>
                  <a:pt x="12188952" y="0"/>
                </a:lnTo>
                <a:lnTo>
                  <a:pt x="12188952" y="1635106"/>
                </a:lnTo>
                <a:lnTo>
                  <a:pt x="11356325" y="1707615"/>
                </a:lnTo>
                <a:cubicBezTo>
                  <a:pt x="9739512" y="1831240"/>
                  <a:pt x="7961919" y="1899601"/>
                  <a:pt x="6096001" y="1899601"/>
                </a:cubicBezTo>
                <a:cubicBezTo>
                  <a:pt x="4230084" y="1899601"/>
                  <a:pt x="2452490" y="1831240"/>
                  <a:pt x="835678" y="1707615"/>
                </a:cubicBezTo>
                <a:lnTo>
                  <a:pt x="0" y="1634841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6" name="Freeform: Shape 125">
            <a:extLst>
              <a:ext uri="{FF2B5EF4-FFF2-40B4-BE49-F238E27FC236}">
                <a16:creationId xmlns:a16="http://schemas.microsoft.com/office/drawing/2014/main" id="{5CF0135B-EAB8-4CA0-896C-2D897ECD2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890722"/>
          </a:xfrm>
          <a:custGeom>
            <a:avLst/>
            <a:gdLst>
              <a:gd name="connsiteX0" fmla="*/ 0 w 12192000"/>
              <a:gd name="connsiteY0" fmla="*/ 0 h 1890722"/>
              <a:gd name="connsiteX1" fmla="*/ 12192000 w 12192000"/>
              <a:gd name="connsiteY1" fmla="*/ 0 h 1890722"/>
              <a:gd name="connsiteX2" fmla="*/ 12192000 w 12192000"/>
              <a:gd name="connsiteY2" fmla="*/ 1626227 h 1890722"/>
              <a:gd name="connsiteX3" fmla="*/ 11359165 w 12192000"/>
              <a:gd name="connsiteY3" fmla="*/ 1698736 h 1890722"/>
              <a:gd name="connsiteX4" fmla="*/ 6097526 w 12192000"/>
              <a:gd name="connsiteY4" fmla="*/ 1890722 h 1890722"/>
              <a:gd name="connsiteX5" fmla="*/ 835887 w 12192000"/>
              <a:gd name="connsiteY5" fmla="*/ 1698736 h 1890722"/>
              <a:gd name="connsiteX6" fmla="*/ 0 w 12192000"/>
              <a:gd name="connsiteY6" fmla="*/ 1625962 h 1890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890722">
                <a:moveTo>
                  <a:pt x="0" y="0"/>
                </a:moveTo>
                <a:lnTo>
                  <a:pt x="12192000" y="0"/>
                </a:lnTo>
                <a:lnTo>
                  <a:pt x="12192000" y="1626227"/>
                </a:lnTo>
                <a:lnTo>
                  <a:pt x="11359165" y="1698736"/>
                </a:lnTo>
                <a:cubicBezTo>
                  <a:pt x="9741947" y="1822361"/>
                  <a:pt x="7963910" y="1890722"/>
                  <a:pt x="6097526" y="1890722"/>
                </a:cubicBezTo>
                <a:cubicBezTo>
                  <a:pt x="4231142" y="1890722"/>
                  <a:pt x="2453104" y="1822361"/>
                  <a:pt x="835887" y="1698736"/>
                </a:cubicBezTo>
                <a:lnTo>
                  <a:pt x="0" y="1625962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FEB95A-4063-74E8-EC10-60241FF59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3397"/>
            <a:ext cx="10515600" cy="1273233"/>
          </a:xfrm>
        </p:spPr>
        <p:txBody>
          <a:bodyPr>
            <a:normAutofit/>
          </a:bodyPr>
          <a:lstStyle/>
          <a:p>
            <a:r>
              <a:rPr lang="en-US" sz="4000"/>
              <a:t>Why Evaluation is Hard in LLM Systems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92C3387C-D24F-4737-8A37-1DC5CFF09C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2452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0" name="Content Placeholder 89">
            <a:extLst>
              <a:ext uri="{FF2B5EF4-FFF2-40B4-BE49-F238E27FC236}">
                <a16:creationId xmlns:a16="http://schemas.microsoft.com/office/drawing/2014/main" id="{66F141A5-948F-8A68-36AE-96B231B519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768" y="1995947"/>
            <a:ext cx="10754032" cy="4608655"/>
          </a:xfrm>
        </p:spPr>
        <p:txBody>
          <a:bodyPr>
            <a:normAutofit/>
          </a:bodyPr>
          <a:lstStyle/>
          <a:p>
            <a:r>
              <a:rPr lang="en-US" dirty="0"/>
              <a:t>Traditional NLP metrics fail to capture multi-step agent behavior.</a:t>
            </a:r>
          </a:p>
          <a:p>
            <a:r>
              <a:rPr lang="en-US" sz="1800" b="1" dirty="0"/>
              <a:t>Key properties of LLM outputs:</a:t>
            </a:r>
            <a:endParaRPr lang="en-US" sz="1800" dirty="0"/>
          </a:p>
          <a:p>
            <a:pPr lvl="1"/>
            <a:r>
              <a:rPr lang="en-US" sz="1800" dirty="0"/>
              <a:t>Probabilistic — the same prompt may produce different answers</a:t>
            </a:r>
          </a:p>
          <a:p>
            <a:pPr lvl="1"/>
            <a:r>
              <a:rPr lang="en-US" sz="1800" dirty="0"/>
              <a:t>Context-dependent — output quality depends heavily on prompt wording</a:t>
            </a:r>
          </a:p>
          <a:p>
            <a:pPr lvl="1"/>
            <a:r>
              <a:rPr lang="en-US" sz="1800" dirty="0"/>
              <a:t>Non-deterministic — no single guaranteed correct response</a:t>
            </a:r>
          </a:p>
          <a:p>
            <a:pPr lvl="1"/>
            <a:r>
              <a:rPr lang="en-US" sz="1800" dirty="0"/>
              <a:t>Open-ended — many tasks have multiple valid answers</a:t>
            </a:r>
          </a:p>
          <a:p>
            <a:r>
              <a:rPr lang="en-US" sz="1800" b="1" dirty="0"/>
              <a:t>Why This Breaks Classical Testing </a:t>
            </a:r>
          </a:p>
          <a:p>
            <a:pPr marL="457200" lvl="1" indent="0">
              <a:buNone/>
            </a:pPr>
            <a:r>
              <a:rPr lang="en-US" sz="1800" dirty="0"/>
              <a:t>Traditional software assumes:</a:t>
            </a:r>
          </a:p>
          <a:p>
            <a:pPr lvl="2"/>
            <a:r>
              <a:rPr lang="en-US" sz="1800" dirty="0"/>
              <a:t>deterministic outputs</a:t>
            </a:r>
          </a:p>
          <a:p>
            <a:pPr lvl="2"/>
            <a:r>
              <a:rPr lang="en-US" sz="1800" dirty="0"/>
              <a:t>single correct answer</a:t>
            </a:r>
          </a:p>
          <a:p>
            <a:pPr lvl="2"/>
            <a:r>
              <a:rPr lang="en-US" sz="1800" dirty="0"/>
              <a:t>repeatable execution</a:t>
            </a:r>
          </a:p>
          <a:p>
            <a:r>
              <a:rPr lang="en-US" sz="1800" b="1" dirty="0"/>
              <a:t>LLM agents violate these assumptions.</a:t>
            </a:r>
          </a:p>
          <a:p>
            <a:pPr marL="0" indent="0">
              <a:buNone/>
            </a:pP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530947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81E62A-BF65-B85C-C077-EAE7B1C38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-657736"/>
            <a:ext cx="9688296" cy="1642969"/>
          </a:xfrm>
        </p:spPr>
        <p:txBody>
          <a:bodyPr anchor="b">
            <a:normAutofit/>
          </a:bodyPr>
          <a:lstStyle/>
          <a:p>
            <a:r>
              <a:rPr lang="en-US" sz="4000" dirty="0"/>
              <a:t>From LLMs to Autonomous Agents</a:t>
            </a:r>
          </a:p>
        </p:txBody>
      </p:sp>
      <p:graphicFrame>
        <p:nvGraphicFramePr>
          <p:cNvPr id="35" name="Content Placeholder 2">
            <a:extLst>
              <a:ext uri="{FF2B5EF4-FFF2-40B4-BE49-F238E27FC236}">
                <a16:creationId xmlns:a16="http://schemas.microsoft.com/office/drawing/2014/main" id="{2FFEBA2B-1EFA-9E66-8663-D4AD929BD8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89140178"/>
              </p:ext>
            </p:extLst>
          </p:nvPr>
        </p:nvGraphicFramePr>
        <p:xfrm>
          <a:off x="1136397" y="1278195"/>
          <a:ext cx="4556480" cy="36870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1" name="Rectangle 30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E092258-1A0E-1DDB-E9B4-5051F61319B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81062" y="1381759"/>
            <a:ext cx="5740356" cy="348488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6E12603-DCE1-5356-80D5-8AC1830BB7DF}"/>
              </a:ext>
            </a:extLst>
          </p:cNvPr>
          <p:cNvSpPr txBox="1"/>
          <p:nvPr/>
        </p:nvSpPr>
        <p:spPr>
          <a:xfrm>
            <a:off x="9743768" y="5918811"/>
            <a:ext cx="707922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100" dirty="0"/>
              <a:t>Source : Microsoft </a:t>
            </a:r>
            <a:r>
              <a:rPr lang="fr-FR" sz="1100" dirty="0" err="1"/>
              <a:t>AutoGen</a:t>
            </a:r>
            <a:r>
              <a:rPr lang="fr-FR" sz="1100" dirty="0"/>
              <a:t> Project</a:t>
            </a:r>
            <a:br>
              <a:rPr lang="fr-FR" sz="1100" dirty="0"/>
            </a:br>
            <a:r>
              <a:rPr lang="fr-FR" sz="1100" dirty="0">
                <a:hlinkClick r:id="rId8"/>
              </a:rPr>
              <a:t>https://microsoft.github.io/autogen/</a:t>
            </a:r>
            <a:endParaRPr lang="en-US" sz="11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8FC4C7-CF17-3C33-FA28-C8F068A75164}"/>
              </a:ext>
            </a:extLst>
          </p:cNvPr>
          <p:cNvSpPr txBox="1"/>
          <p:nvPr/>
        </p:nvSpPr>
        <p:spPr>
          <a:xfrm>
            <a:off x="6676104" y="4841939"/>
            <a:ext cx="6386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Example: </a:t>
            </a:r>
            <a:r>
              <a:rPr lang="en-US" b="1" dirty="0" err="1"/>
              <a:t>AutoGen</a:t>
            </a:r>
            <a:r>
              <a:rPr lang="en-US" b="1" dirty="0"/>
              <a:t> multi-agent architecture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F9FA95-58FE-4E9C-C1A3-067079B33A61}"/>
              </a:ext>
            </a:extLst>
          </p:cNvPr>
          <p:cNvSpPr txBox="1"/>
          <p:nvPr/>
        </p:nvSpPr>
        <p:spPr>
          <a:xfrm>
            <a:off x="1136397" y="5221380"/>
            <a:ext cx="1009204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Key Insight:</a:t>
            </a:r>
            <a:r>
              <a:rPr lang="en-US" dirty="0"/>
              <a:t> As agent autonomy increases, hidden failure modes multiply and traditional output-based evaluation becomes insufficient. </a:t>
            </a:r>
            <a:r>
              <a:rPr lang="en-US" dirty="0" err="1"/>
              <a:t>AgentEval</a:t>
            </a:r>
            <a:r>
              <a:rPr lang="en-US" dirty="0"/>
              <a:t> was proposed to address this emerging evaluation gap.</a:t>
            </a:r>
          </a:p>
        </p:txBody>
      </p:sp>
    </p:spTree>
    <p:extLst>
      <p:ext uri="{BB962C8B-B14F-4D97-AF65-F5344CB8AC3E}">
        <p14:creationId xmlns:p14="http://schemas.microsoft.com/office/powerpoint/2010/main" val="849040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AC1E76-991A-E74D-843C-501C818CC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2029D5AD-8348-4446-B191-6A9B6FE03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9" name="Freeform: Shape 48">
            <a:extLst>
              <a:ext uri="{FF2B5EF4-FFF2-40B4-BE49-F238E27FC236}">
                <a16:creationId xmlns:a16="http://schemas.microsoft.com/office/drawing/2014/main" id="{A3F395A2-2B64-4749-BD93-2F159C7E1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1899601"/>
          </a:xfrm>
          <a:custGeom>
            <a:avLst/>
            <a:gdLst>
              <a:gd name="connsiteX0" fmla="*/ 0 w 12188952"/>
              <a:gd name="connsiteY0" fmla="*/ 0 h 1899601"/>
              <a:gd name="connsiteX1" fmla="*/ 12188952 w 12188952"/>
              <a:gd name="connsiteY1" fmla="*/ 0 h 1899601"/>
              <a:gd name="connsiteX2" fmla="*/ 12188952 w 12188952"/>
              <a:gd name="connsiteY2" fmla="*/ 1635106 h 1899601"/>
              <a:gd name="connsiteX3" fmla="*/ 11356325 w 12188952"/>
              <a:gd name="connsiteY3" fmla="*/ 1707615 h 1899601"/>
              <a:gd name="connsiteX4" fmla="*/ 6096001 w 12188952"/>
              <a:gd name="connsiteY4" fmla="*/ 1899601 h 1899601"/>
              <a:gd name="connsiteX5" fmla="*/ 835678 w 12188952"/>
              <a:gd name="connsiteY5" fmla="*/ 1707615 h 1899601"/>
              <a:gd name="connsiteX6" fmla="*/ 0 w 12188952"/>
              <a:gd name="connsiteY6" fmla="*/ 1634841 h 1899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88952" h="1899601">
                <a:moveTo>
                  <a:pt x="0" y="0"/>
                </a:moveTo>
                <a:lnTo>
                  <a:pt x="12188952" y="0"/>
                </a:lnTo>
                <a:lnTo>
                  <a:pt x="12188952" y="1635106"/>
                </a:lnTo>
                <a:lnTo>
                  <a:pt x="11356325" y="1707615"/>
                </a:lnTo>
                <a:cubicBezTo>
                  <a:pt x="9739512" y="1831240"/>
                  <a:pt x="7961919" y="1899601"/>
                  <a:pt x="6096001" y="1899601"/>
                </a:cubicBezTo>
                <a:cubicBezTo>
                  <a:pt x="4230084" y="1899601"/>
                  <a:pt x="2452490" y="1831240"/>
                  <a:pt x="835678" y="1707615"/>
                </a:cubicBezTo>
                <a:lnTo>
                  <a:pt x="0" y="1634841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51" name="Freeform: Shape 50">
            <a:extLst>
              <a:ext uri="{FF2B5EF4-FFF2-40B4-BE49-F238E27FC236}">
                <a16:creationId xmlns:a16="http://schemas.microsoft.com/office/drawing/2014/main" id="{5CF0135B-EAB8-4CA0-896C-2D897ECD2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890722"/>
          </a:xfrm>
          <a:custGeom>
            <a:avLst/>
            <a:gdLst>
              <a:gd name="connsiteX0" fmla="*/ 0 w 12192000"/>
              <a:gd name="connsiteY0" fmla="*/ 0 h 1890722"/>
              <a:gd name="connsiteX1" fmla="*/ 12192000 w 12192000"/>
              <a:gd name="connsiteY1" fmla="*/ 0 h 1890722"/>
              <a:gd name="connsiteX2" fmla="*/ 12192000 w 12192000"/>
              <a:gd name="connsiteY2" fmla="*/ 1626227 h 1890722"/>
              <a:gd name="connsiteX3" fmla="*/ 11359165 w 12192000"/>
              <a:gd name="connsiteY3" fmla="*/ 1698736 h 1890722"/>
              <a:gd name="connsiteX4" fmla="*/ 6097526 w 12192000"/>
              <a:gd name="connsiteY4" fmla="*/ 1890722 h 1890722"/>
              <a:gd name="connsiteX5" fmla="*/ 835887 w 12192000"/>
              <a:gd name="connsiteY5" fmla="*/ 1698736 h 1890722"/>
              <a:gd name="connsiteX6" fmla="*/ 0 w 12192000"/>
              <a:gd name="connsiteY6" fmla="*/ 1625962 h 1890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890722">
                <a:moveTo>
                  <a:pt x="0" y="0"/>
                </a:moveTo>
                <a:lnTo>
                  <a:pt x="12192000" y="0"/>
                </a:lnTo>
                <a:lnTo>
                  <a:pt x="12192000" y="1626227"/>
                </a:lnTo>
                <a:lnTo>
                  <a:pt x="11359165" y="1698736"/>
                </a:lnTo>
                <a:cubicBezTo>
                  <a:pt x="9741947" y="1822361"/>
                  <a:pt x="7963910" y="1890722"/>
                  <a:pt x="6097526" y="1890722"/>
                </a:cubicBezTo>
                <a:cubicBezTo>
                  <a:pt x="4231142" y="1890722"/>
                  <a:pt x="2453104" y="1822361"/>
                  <a:pt x="835887" y="1698736"/>
                </a:cubicBezTo>
                <a:lnTo>
                  <a:pt x="0" y="1625962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44A8F1-D152-7BF8-9BD1-1DCEE3E4D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3397"/>
            <a:ext cx="10515600" cy="1273233"/>
          </a:xfrm>
        </p:spPr>
        <p:txBody>
          <a:bodyPr>
            <a:normAutofit/>
          </a:bodyPr>
          <a:lstStyle/>
          <a:p>
            <a:r>
              <a:rPr lang="en-US" sz="4000" b="1"/>
              <a:t>Typical Agent Execution Pipeline</a:t>
            </a:r>
            <a:endParaRPr lang="en-US" sz="400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2C3387C-D24F-4737-8A37-1DC5CFF09C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2452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8A90C-0724-712C-BC2E-0E056F2B7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156" y="2144119"/>
            <a:ext cx="10800644" cy="4028081"/>
          </a:xfrm>
        </p:spPr>
        <p:txBody>
          <a:bodyPr>
            <a:normAutofit/>
          </a:bodyPr>
          <a:lstStyle/>
          <a:p>
            <a:r>
              <a:rPr lang="en-US" dirty="0"/>
              <a:t>AI agents do not produce answers in a single step. Instead, they follow an iterative reasoning–action loop that may involve multiple interactions with tools.</a:t>
            </a:r>
          </a:p>
          <a:p>
            <a:pPr marL="0" indent="0">
              <a:buNone/>
            </a:pPr>
            <a:r>
              <a:rPr lang="en-US" b="1" dirty="0"/>
              <a:t>Core Execution Stages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800" b="1" dirty="0"/>
              <a:t>Task Reception: </a:t>
            </a:r>
            <a:r>
              <a:rPr lang="en-US" sz="1800" dirty="0"/>
              <a:t>The agent receives the user’s goal or instruction.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800" b="1" dirty="0"/>
              <a:t>Reasoning / Planning: </a:t>
            </a:r>
            <a:r>
              <a:rPr lang="en-US" sz="1800" dirty="0"/>
              <a:t>The LLM determines the next best action.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800" b="1" dirty="0"/>
              <a:t>Tool Selection: </a:t>
            </a:r>
            <a:r>
              <a:rPr lang="en-US" sz="1800" dirty="0"/>
              <a:t>The agent chooses an external tool or API when needed.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800" b="1" dirty="0"/>
              <a:t>Parameter Construction: </a:t>
            </a:r>
            <a:r>
              <a:rPr lang="en-US" sz="1800" dirty="0"/>
              <a:t>The agent builds the tool input (e.g., JSON arguments).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800" b="1" dirty="0"/>
              <a:t>Tool Execution: </a:t>
            </a:r>
            <a:r>
              <a:rPr lang="en-US" sz="1800" dirty="0"/>
              <a:t>The external system is invoked.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800" b="1" dirty="0"/>
              <a:t>Observation: </a:t>
            </a:r>
            <a:r>
              <a:rPr lang="en-US" sz="1800" dirty="0"/>
              <a:t>The agent interprets the returned result.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800" b="1" dirty="0"/>
              <a:t>Iteration or Termination: </a:t>
            </a:r>
            <a:r>
              <a:rPr lang="en-US" sz="1800" dirty="0"/>
              <a:t>The agent either continues the loop or produces the final answer.</a:t>
            </a:r>
          </a:p>
          <a:p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1463528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707011-E54C-DA89-7C75-3BDE87426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2029D5AD-8348-4446-B191-6A9B6FE03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9" name="Freeform: Shape 48">
            <a:extLst>
              <a:ext uri="{FF2B5EF4-FFF2-40B4-BE49-F238E27FC236}">
                <a16:creationId xmlns:a16="http://schemas.microsoft.com/office/drawing/2014/main" id="{A3F395A2-2B64-4749-BD93-2F159C7E1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1899601"/>
          </a:xfrm>
          <a:custGeom>
            <a:avLst/>
            <a:gdLst>
              <a:gd name="connsiteX0" fmla="*/ 0 w 12188952"/>
              <a:gd name="connsiteY0" fmla="*/ 0 h 1899601"/>
              <a:gd name="connsiteX1" fmla="*/ 12188952 w 12188952"/>
              <a:gd name="connsiteY1" fmla="*/ 0 h 1899601"/>
              <a:gd name="connsiteX2" fmla="*/ 12188952 w 12188952"/>
              <a:gd name="connsiteY2" fmla="*/ 1635106 h 1899601"/>
              <a:gd name="connsiteX3" fmla="*/ 11356325 w 12188952"/>
              <a:gd name="connsiteY3" fmla="*/ 1707615 h 1899601"/>
              <a:gd name="connsiteX4" fmla="*/ 6096001 w 12188952"/>
              <a:gd name="connsiteY4" fmla="*/ 1899601 h 1899601"/>
              <a:gd name="connsiteX5" fmla="*/ 835678 w 12188952"/>
              <a:gd name="connsiteY5" fmla="*/ 1707615 h 1899601"/>
              <a:gd name="connsiteX6" fmla="*/ 0 w 12188952"/>
              <a:gd name="connsiteY6" fmla="*/ 1634841 h 1899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88952" h="1899601">
                <a:moveTo>
                  <a:pt x="0" y="0"/>
                </a:moveTo>
                <a:lnTo>
                  <a:pt x="12188952" y="0"/>
                </a:lnTo>
                <a:lnTo>
                  <a:pt x="12188952" y="1635106"/>
                </a:lnTo>
                <a:lnTo>
                  <a:pt x="11356325" y="1707615"/>
                </a:lnTo>
                <a:cubicBezTo>
                  <a:pt x="9739512" y="1831240"/>
                  <a:pt x="7961919" y="1899601"/>
                  <a:pt x="6096001" y="1899601"/>
                </a:cubicBezTo>
                <a:cubicBezTo>
                  <a:pt x="4230084" y="1899601"/>
                  <a:pt x="2452490" y="1831240"/>
                  <a:pt x="835678" y="1707615"/>
                </a:cubicBezTo>
                <a:lnTo>
                  <a:pt x="0" y="1634841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51" name="Freeform: Shape 50">
            <a:extLst>
              <a:ext uri="{FF2B5EF4-FFF2-40B4-BE49-F238E27FC236}">
                <a16:creationId xmlns:a16="http://schemas.microsoft.com/office/drawing/2014/main" id="{5CF0135B-EAB8-4CA0-896C-2D897ECD2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890722"/>
          </a:xfrm>
          <a:custGeom>
            <a:avLst/>
            <a:gdLst>
              <a:gd name="connsiteX0" fmla="*/ 0 w 12192000"/>
              <a:gd name="connsiteY0" fmla="*/ 0 h 1890722"/>
              <a:gd name="connsiteX1" fmla="*/ 12192000 w 12192000"/>
              <a:gd name="connsiteY1" fmla="*/ 0 h 1890722"/>
              <a:gd name="connsiteX2" fmla="*/ 12192000 w 12192000"/>
              <a:gd name="connsiteY2" fmla="*/ 1626227 h 1890722"/>
              <a:gd name="connsiteX3" fmla="*/ 11359165 w 12192000"/>
              <a:gd name="connsiteY3" fmla="*/ 1698736 h 1890722"/>
              <a:gd name="connsiteX4" fmla="*/ 6097526 w 12192000"/>
              <a:gd name="connsiteY4" fmla="*/ 1890722 h 1890722"/>
              <a:gd name="connsiteX5" fmla="*/ 835887 w 12192000"/>
              <a:gd name="connsiteY5" fmla="*/ 1698736 h 1890722"/>
              <a:gd name="connsiteX6" fmla="*/ 0 w 12192000"/>
              <a:gd name="connsiteY6" fmla="*/ 1625962 h 1890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890722">
                <a:moveTo>
                  <a:pt x="0" y="0"/>
                </a:moveTo>
                <a:lnTo>
                  <a:pt x="12192000" y="0"/>
                </a:lnTo>
                <a:lnTo>
                  <a:pt x="12192000" y="1626227"/>
                </a:lnTo>
                <a:lnTo>
                  <a:pt x="11359165" y="1698736"/>
                </a:lnTo>
                <a:cubicBezTo>
                  <a:pt x="9741947" y="1822361"/>
                  <a:pt x="7963910" y="1890722"/>
                  <a:pt x="6097526" y="1890722"/>
                </a:cubicBezTo>
                <a:cubicBezTo>
                  <a:pt x="4231142" y="1890722"/>
                  <a:pt x="2453104" y="1822361"/>
                  <a:pt x="835887" y="1698736"/>
                </a:cubicBezTo>
                <a:lnTo>
                  <a:pt x="0" y="1625962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0B890F-4C04-C6A0-6E03-59F0075B8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3397"/>
            <a:ext cx="10515600" cy="1273233"/>
          </a:xfrm>
        </p:spPr>
        <p:txBody>
          <a:bodyPr>
            <a:normAutofit/>
          </a:bodyPr>
          <a:lstStyle/>
          <a:p>
            <a:r>
              <a:rPr lang="en-US" sz="4000" dirty="0"/>
              <a:t>Hidden Failure Modes in AI Agents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2C3387C-D24F-4737-8A37-1DC5CFF09C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2452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E0C85-C2A4-E5B5-46B0-87FCB5C0EB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613" y="1526631"/>
            <a:ext cx="11307097" cy="4913498"/>
          </a:xfrm>
        </p:spPr>
        <p:txBody>
          <a:bodyPr>
            <a:normAutofit fontScale="77500" lnSpcReduction="20000"/>
          </a:bodyPr>
          <a:lstStyle/>
          <a:p>
            <a:r>
              <a:rPr lang="en-US" sz="3600" dirty="0"/>
              <a:t>AI agents operate through an iterative reasoning–action loop rather than producing answers in a single step.</a:t>
            </a:r>
          </a:p>
          <a:p>
            <a:r>
              <a:rPr lang="en-US" sz="3600" dirty="0"/>
              <a:t>Because of this multi-step process, failures may occur silently at any stage of execution.</a:t>
            </a:r>
          </a:p>
          <a:p>
            <a:pPr marL="0" indent="0">
              <a:buNone/>
            </a:pPr>
            <a:r>
              <a:rPr lang="en-US" sz="3600" b="1" dirty="0"/>
              <a:t>Where Failures Commonly Occur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600" b="1" dirty="0"/>
              <a:t>Task Reception: </a:t>
            </a:r>
            <a:r>
              <a:rPr lang="en-US" sz="2600" dirty="0"/>
              <a:t>Agent misunderstands the user’s goal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600" b="1" dirty="0"/>
              <a:t>Reasoning / Planning: </a:t>
            </a:r>
            <a:r>
              <a:rPr lang="en-US" sz="2600" dirty="0"/>
              <a:t>Agent chooses incorrect next step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600" b="1" dirty="0"/>
              <a:t>Tool Selection: </a:t>
            </a:r>
            <a:r>
              <a:rPr lang="en-US" sz="2600" dirty="0"/>
              <a:t>Wrong API/tool is invoked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600" b="1" dirty="0"/>
              <a:t>Parameter Construction: </a:t>
            </a:r>
            <a:r>
              <a:rPr lang="en-US" sz="2600" dirty="0"/>
              <a:t>Incorrect JSON or arguments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600" b="1" dirty="0"/>
              <a:t>Tool Execution: </a:t>
            </a:r>
            <a:r>
              <a:rPr lang="en-US" sz="2600" dirty="0"/>
              <a:t>API returns error (e.g., 404)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600" b="1" dirty="0"/>
              <a:t>Observation: </a:t>
            </a:r>
            <a:r>
              <a:rPr lang="en-US" sz="2600" dirty="0"/>
              <a:t>Agent misinterprets the result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600" b="1" dirty="0"/>
              <a:t>Iteration or Termination: </a:t>
            </a:r>
            <a:r>
              <a:rPr lang="en-US" sz="2600" dirty="0"/>
              <a:t>Final report does not match trace</a:t>
            </a:r>
          </a:p>
          <a:p>
            <a:endParaRPr lang="en-US" sz="1200" dirty="0"/>
          </a:p>
          <a:p>
            <a:r>
              <a:rPr lang="en-US" sz="3600" dirty="0" err="1"/>
              <a:t>AgentEval</a:t>
            </a:r>
            <a:r>
              <a:rPr lang="en-US" sz="3600" dirty="0"/>
              <a:t> is designed to detect failures across this entire pipeline, not just the final answer.</a:t>
            </a:r>
          </a:p>
        </p:txBody>
      </p:sp>
    </p:spTree>
    <p:extLst>
      <p:ext uri="{BB962C8B-B14F-4D97-AF65-F5344CB8AC3E}">
        <p14:creationId xmlns:p14="http://schemas.microsoft.com/office/powerpoint/2010/main" val="18155287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F220AD-BF0B-1CF7-35F5-228FF16C6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4E0D4781-EADA-0250-1331-73F03729B9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7AE914-A3B4-F0CD-ED62-70479D15D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338667"/>
            <a:ext cx="9688296" cy="646566"/>
          </a:xfrm>
        </p:spPr>
        <p:txBody>
          <a:bodyPr anchor="b">
            <a:normAutofit/>
          </a:bodyPr>
          <a:lstStyle/>
          <a:p>
            <a:r>
              <a:rPr lang="en-US" sz="4000" dirty="0"/>
              <a:t>Real Failure Example: 404 Misinterpretation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F7E4F-8969-44AF-E642-CEFAE32F66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310" y="1278194"/>
            <a:ext cx="10756490" cy="5122177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000" b="1" dirty="0"/>
              <a:t>The agent was tasked with testing the mock user API.</a:t>
            </a:r>
          </a:p>
          <a:p>
            <a:pPr marL="0" indent="0">
              <a:buNone/>
            </a:pPr>
            <a:r>
              <a:rPr lang="en-US" sz="2000" b="1" dirty="0"/>
              <a:t>Test Results Observed</a:t>
            </a:r>
          </a:p>
          <a:p>
            <a:r>
              <a:rPr lang="en-US" dirty="0"/>
              <a:t>/users/50</a:t>
            </a:r>
            <a:r>
              <a:rPr lang="en-US" sz="2000" dirty="0"/>
              <a:t> → valid response (HTTP 200)</a:t>
            </a:r>
          </a:p>
          <a:p>
            <a:r>
              <a:rPr lang="en-US" dirty="0"/>
              <a:t>/users/-1</a:t>
            </a:r>
            <a:r>
              <a:rPr lang="en-US" sz="2000" dirty="0"/>
              <a:t> → error response (</a:t>
            </a:r>
            <a:r>
              <a:rPr lang="en-US" sz="2000" b="1" dirty="0"/>
              <a:t>HTTP 404 Not Found</a:t>
            </a:r>
            <a:r>
              <a:rPr lang="en-US" sz="2000" dirty="0"/>
              <a:t>)</a:t>
            </a:r>
          </a:p>
          <a:p>
            <a:r>
              <a:rPr lang="en-US" sz="2000" dirty="0"/>
              <a:t>Despite receiving a </a:t>
            </a:r>
            <a:r>
              <a:rPr lang="en-US" sz="2000" b="1" dirty="0"/>
              <a:t>404 error</a:t>
            </a:r>
            <a:r>
              <a:rPr lang="en-US" sz="2000" dirty="0"/>
              <a:t>, the agent reported:</a:t>
            </a:r>
          </a:p>
          <a:p>
            <a:r>
              <a:rPr lang="en-US" sz="2000" b="1" dirty="0"/>
              <a:t>“Negative test passed.”</a:t>
            </a:r>
            <a:endParaRPr lang="en-US" sz="2000" dirty="0"/>
          </a:p>
          <a:p>
            <a:r>
              <a:rPr lang="en-US" sz="2000" dirty="0"/>
              <a:t>This reveals a semantic reasoning failure: The agent equated “expected negative test” with “successful validation” without verifying correctness conditions.</a:t>
            </a:r>
          </a:p>
          <a:p>
            <a:r>
              <a:rPr lang="en-US" sz="2000" dirty="0"/>
              <a:t>The failure is not in the output format — it is in the reasoning-to-report alignment.</a:t>
            </a:r>
            <a:br>
              <a:rPr lang="en-US" sz="2000" dirty="0"/>
            </a:br>
            <a:endParaRPr lang="en-US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 err="1"/>
              <a:t>AgentEval</a:t>
            </a:r>
            <a:r>
              <a:rPr lang="en-US" sz="2000" b="1" dirty="0"/>
              <a:t> exposes these hidden reasoning errors by analyzing the full execution trace.</a:t>
            </a:r>
            <a:endParaRPr lang="en-US" sz="2000" dirty="0"/>
          </a:p>
          <a:p>
            <a:pPr>
              <a:buFont typeface="Wingdings" panose="05000000000000000000" pitchFamily="2" charset="2"/>
              <a:buChar char="Ø"/>
            </a:pPr>
            <a:endParaRPr lang="en-US" sz="1900" b="1" dirty="0"/>
          </a:p>
          <a:p>
            <a:pPr marL="0" indent="0">
              <a:buNone/>
            </a:pPr>
            <a:endParaRPr lang="en-US" sz="1900" b="1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9606708-4FC5-F516-3E71-DC89CBB66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1060926-A6F1-71FD-D661-441AD6CEB6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3F6229-2BC9-06E4-D602-5DD1F6BDFA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5252" y="1933494"/>
            <a:ext cx="3943858" cy="116221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64A98AF-607C-493B-F453-07397F922B2B}"/>
              </a:ext>
            </a:extLst>
          </p:cNvPr>
          <p:cNvSpPr txBox="1"/>
          <p:nvPr/>
        </p:nvSpPr>
        <p:spPr>
          <a:xfrm>
            <a:off x="7167716" y="160234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Example Agent Interpretation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616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0734882-8226-A34B-902B-745630560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338667"/>
            <a:ext cx="9688296" cy="646566"/>
          </a:xfrm>
        </p:spPr>
        <p:txBody>
          <a:bodyPr anchor="b">
            <a:normAutofit/>
          </a:bodyPr>
          <a:lstStyle/>
          <a:p>
            <a:r>
              <a:rPr lang="en-US" sz="4000"/>
              <a:t>Real Failure Example: 404 Misinterpretation</a:t>
            </a:r>
            <a:endParaRPr lang="en-US" sz="40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4013EE4-7F23-32A5-E741-3118DBD2F6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310" y="1278194"/>
            <a:ext cx="10756490" cy="5122177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000" b="1" dirty="0"/>
              <a:t>The agent was tasked with testing the mock user API.</a:t>
            </a:r>
          </a:p>
          <a:p>
            <a:pPr marL="0" indent="0">
              <a:buNone/>
            </a:pPr>
            <a:r>
              <a:rPr lang="en-US" sz="2000" b="1" dirty="0"/>
              <a:t>Test Results Observed</a:t>
            </a:r>
          </a:p>
          <a:p>
            <a:r>
              <a:rPr lang="en-US"/>
              <a:t>/users/50</a:t>
            </a:r>
            <a:r>
              <a:rPr lang="en-US" sz="2000"/>
              <a:t> </a:t>
            </a:r>
            <a:r>
              <a:rPr lang="en-US" sz="2000" dirty="0"/>
              <a:t>→ valid response (HTTP 200)</a:t>
            </a:r>
          </a:p>
          <a:p>
            <a:r>
              <a:rPr lang="en-US"/>
              <a:t>/users/-1</a:t>
            </a:r>
            <a:r>
              <a:rPr lang="en-US" sz="2000"/>
              <a:t> </a:t>
            </a:r>
            <a:r>
              <a:rPr lang="en-US" sz="2000" dirty="0"/>
              <a:t>→ error response (</a:t>
            </a:r>
            <a:r>
              <a:rPr lang="en-US" sz="2000" b="1" dirty="0"/>
              <a:t>HTTP 404 Not Found</a:t>
            </a:r>
            <a:r>
              <a:rPr lang="en-US" sz="2000" dirty="0"/>
              <a:t>)</a:t>
            </a:r>
          </a:p>
          <a:p>
            <a:r>
              <a:rPr lang="en-US" sz="2000" dirty="0"/>
              <a:t>Despite receiving a </a:t>
            </a:r>
            <a:r>
              <a:rPr lang="en-US" sz="2000" b="1" dirty="0"/>
              <a:t>404 error</a:t>
            </a:r>
            <a:r>
              <a:rPr lang="en-US" sz="2000" dirty="0"/>
              <a:t>, the agent reported:</a:t>
            </a:r>
          </a:p>
          <a:p>
            <a:r>
              <a:rPr lang="en-US" sz="2000" b="1" dirty="0"/>
              <a:t>“Negative test passed.”</a:t>
            </a:r>
            <a:endParaRPr lang="en-US" sz="2000" dirty="0"/>
          </a:p>
          <a:p>
            <a:r>
              <a:rPr lang="en-US" sz="2000" dirty="0"/>
              <a:t>This reveals a semantic reasoning failure: The agent equated “expected negative test” with “successful validation” without verifying correctness conditions.</a:t>
            </a:r>
          </a:p>
          <a:p>
            <a:r>
              <a:rPr lang="en-US" sz="2000" dirty="0"/>
              <a:t>The failure is not in the output format — it is in the reasoning-to-report alignment.</a:t>
            </a:r>
            <a:br>
              <a:rPr lang="en-US" sz="2000" dirty="0"/>
            </a:br>
            <a:endParaRPr lang="en-US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/>
              <a:t>AgentEval </a:t>
            </a:r>
            <a:r>
              <a:rPr lang="en-US" sz="2000" b="1" dirty="0"/>
              <a:t>exposes these hidden reasoning errors by analyzing the full execution trace.</a:t>
            </a:r>
            <a:endParaRPr lang="en-US" sz="2000" dirty="0"/>
          </a:p>
          <a:p>
            <a:pPr>
              <a:buFont typeface="Wingdings" panose="05000000000000000000" pitchFamily="2" charset="2"/>
              <a:buChar char="Ø"/>
            </a:pPr>
            <a:endParaRPr lang="en-US" sz="1900" b="1"/>
          </a:p>
          <a:p>
            <a:pPr marL="0" indent="0">
              <a:buNone/>
            </a:pPr>
            <a:endParaRPr lang="en-US" sz="1900" b="1" dirty="0"/>
          </a:p>
        </p:txBody>
      </p:sp>
    </p:spTree>
    <p:extLst>
      <p:ext uri="{BB962C8B-B14F-4D97-AF65-F5344CB8AC3E}">
        <p14:creationId xmlns:p14="http://schemas.microsoft.com/office/powerpoint/2010/main" val="15392815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953DF4-1B85-ABE6-0DC4-A219F0CAF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A2D3D2-12CF-DD28-C3C2-DE65CB5B8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3700"/>
              <a:t>Failure Localization in the Agent Execution Pipeline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7140C-D870-BF84-0E6D-A1F3B02438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834" y="2122312"/>
            <a:ext cx="10784862" cy="40546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Where did this 404 error get misinterpreted?</a:t>
            </a:r>
          </a:p>
          <a:p>
            <a:pPr marL="457200" lvl="1" indent="0">
              <a:buNone/>
            </a:pPr>
            <a:r>
              <a:rPr lang="en-US" sz="1800" dirty="0"/>
              <a:t>The failure occurred at:</a:t>
            </a:r>
          </a:p>
          <a:p>
            <a:pPr lvl="2"/>
            <a:r>
              <a:rPr lang="en-US" sz="1800" dirty="0"/>
              <a:t>Stage 6: Observation Interpretation</a:t>
            </a:r>
          </a:p>
          <a:p>
            <a:pPr lvl="2"/>
            <a:r>
              <a:rPr lang="en-US" sz="1800" dirty="0"/>
              <a:t>Stage 7: Final Reporting</a:t>
            </a:r>
          </a:p>
          <a:p>
            <a:pPr marL="457200" lvl="1" indent="0">
              <a:buNone/>
            </a:pPr>
            <a:endParaRPr lang="en-US" sz="2000" dirty="0"/>
          </a:p>
          <a:p>
            <a:r>
              <a:rPr lang="en-US" dirty="0"/>
              <a:t>The agent:</a:t>
            </a:r>
          </a:p>
          <a:p>
            <a:pPr lvl="1"/>
            <a:r>
              <a:rPr lang="en-US" sz="1800" dirty="0"/>
              <a:t>Correctly executed the tool (</a:t>
            </a:r>
            <a:r>
              <a:rPr lang="en-US" sz="1800" dirty="0" err="1"/>
              <a:t>callApi</a:t>
            </a:r>
            <a:r>
              <a:rPr lang="en-US" sz="1800" dirty="0"/>
              <a:t>)</a:t>
            </a:r>
          </a:p>
          <a:p>
            <a:pPr lvl="1"/>
            <a:r>
              <a:rPr lang="en-US" sz="1800" dirty="0"/>
              <a:t>Correctly received 404</a:t>
            </a:r>
          </a:p>
          <a:p>
            <a:pPr lvl="1"/>
            <a:r>
              <a:rPr lang="en-US" sz="1800" dirty="0"/>
              <a:t>Incorrectly interpreted the semantic meaning</a:t>
            </a:r>
          </a:p>
          <a:p>
            <a:pPr lvl="1"/>
            <a:r>
              <a:rPr lang="en-US" sz="1800" dirty="0"/>
              <a:t>Incorrectly aggregated into the final report</a:t>
            </a:r>
          </a:p>
        </p:txBody>
      </p:sp>
    </p:spTree>
    <p:extLst>
      <p:ext uri="{BB962C8B-B14F-4D97-AF65-F5344CB8AC3E}">
        <p14:creationId xmlns:p14="http://schemas.microsoft.com/office/powerpoint/2010/main" val="5849001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486907-B6D7-87D2-9BE5-0994FA792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4FFBEE45-F140-49D5-85EA-C78C24340B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CEFD31-56B9-5499-D043-3A0ECCB11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2844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Why Output-Based Testing Fails for AI Agents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9A1D10-7AC4-0E90-A116-2616DD596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312" y="2193569"/>
            <a:ext cx="6728178" cy="4299305"/>
          </a:xfrm>
        </p:spPr>
        <p:txBody>
          <a:bodyPr vert="horz" lIns="91440" tIns="45720" rIns="91440" bIns="45720" rtlCol="0">
            <a:normAutofit fontScale="77500" lnSpcReduction="20000"/>
          </a:bodyPr>
          <a:lstStyle/>
          <a:p>
            <a:r>
              <a:rPr lang="en-US" sz="2400" b="1" dirty="0"/>
              <a:t>Traditional testing validates:</a:t>
            </a:r>
          </a:p>
          <a:p>
            <a:pPr lvl="1"/>
            <a:r>
              <a:rPr lang="en-US" dirty="0"/>
              <a:t>Output format</a:t>
            </a:r>
          </a:p>
          <a:p>
            <a:pPr lvl="1"/>
            <a:r>
              <a:rPr lang="en-US" dirty="0"/>
              <a:t>Response structure</a:t>
            </a:r>
          </a:p>
          <a:p>
            <a:pPr lvl="1"/>
            <a:r>
              <a:rPr lang="en-US" dirty="0"/>
              <a:t>Presence of expected fields</a:t>
            </a:r>
          </a:p>
          <a:p>
            <a:pPr lvl="1"/>
            <a:r>
              <a:rPr lang="en-US" dirty="0"/>
              <a:t>Basic success/failure status</a:t>
            </a:r>
          </a:p>
          <a:p>
            <a:r>
              <a:rPr lang="en-US" sz="2400" b="1" dirty="0"/>
              <a:t>In the 404 example:</a:t>
            </a:r>
          </a:p>
          <a:p>
            <a:pPr lvl="1"/>
            <a:r>
              <a:rPr lang="en-US" dirty="0"/>
              <a:t>The final report had a correct JSON structure</a:t>
            </a:r>
          </a:p>
          <a:p>
            <a:pPr lvl="1"/>
            <a:r>
              <a:rPr lang="en-US" dirty="0"/>
              <a:t> Test counts were present</a:t>
            </a:r>
          </a:p>
          <a:p>
            <a:pPr lvl="1"/>
            <a:r>
              <a:rPr lang="en-US" dirty="0"/>
              <a:t>Status labels were formatted properly</a:t>
            </a:r>
          </a:p>
          <a:p>
            <a:pPr lvl="1"/>
            <a:r>
              <a:rPr lang="en-US" dirty="0"/>
              <a:t>Yet the reasoning was incorrect.</a:t>
            </a:r>
          </a:p>
          <a:p>
            <a:r>
              <a:rPr lang="en-US" sz="2400" b="1" dirty="0"/>
              <a:t>What Was NOT Validated?</a:t>
            </a:r>
          </a:p>
          <a:p>
            <a:pPr lvl="1"/>
            <a:r>
              <a:rPr lang="en-US" dirty="0"/>
              <a:t>Whether 404 was semantically handled correctly.</a:t>
            </a:r>
          </a:p>
          <a:p>
            <a:pPr lvl="1"/>
            <a:r>
              <a:rPr lang="en-US" dirty="0"/>
              <a:t> Whether schema validation actually occurred</a:t>
            </a:r>
          </a:p>
          <a:p>
            <a:pPr lvl="1"/>
            <a:r>
              <a:rPr lang="en-US" dirty="0"/>
              <a:t> Whether final results matched trace evidence</a:t>
            </a:r>
          </a:p>
          <a:p>
            <a:pPr lvl="1"/>
            <a:r>
              <a:rPr lang="en-US" dirty="0"/>
              <a:t> Whether each decision was logically justified</a:t>
            </a:r>
            <a:br>
              <a:rPr lang="en-US" sz="1600" dirty="0"/>
            </a:br>
            <a:endParaRPr lang="en-US" sz="1600" dirty="0"/>
          </a:p>
          <a:p>
            <a:pPr marL="0"/>
            <a:endParaRPr lang="en-US" sz="16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2D17FC0-15EB-6B94-8096-3711DAA19842}"/>
              </a:ext>
            </a:extLst>
          </p:cNvPr>
          <p:cNvSpPr txBox="1">
            <a:spLocks/>
          </p:cNvSpPr>
          <p:nvPr/>
        </p:nvSpPr>
        <p:spPr>
          <a:xfrm>
            <a:off x="7024307" y="2521909"/>
            <a:ext cx="5164645" cy="37304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Core Problem</a:t>
            </a:r>
          </a:p>
          <a:p>
            <a:pPr lvl="1"/>
            <a:r>
              <a:rPr lang="en-US" sz="2000" dirty="0"/>
              <a:t>Output-based testing validates syntactic correctness.</a:t>
            </a:r>
          </a:p>
          <a:p>
            <a:pPr lvl="1"/>
            <a:r>
              <a:rPr lang="en-US" sz="2000" dirty="0"/>
              <a:t>Agent evaluation must validate semantic and procedural consistency</a:t>
            </a:r>
          </a:p>
          <a:p>
            <a:r>
              <a:rPr lang="en-US" sz="2000" b="1" dirty="0"/>
              <a:t>An agent can generate a structurally correct report that is logically incorrect</a:t>
            </a:r>
            <a:br>
              <a:rPr lang="en-US" sz="2000" b="1" dirty="0"/>
            </a:br>
            <a:endParaRPr lang="en-US" sz="2000" b="1" dirty="0"/>
          </a:p>
          <a:p>
            <a:pPr marL="0"/>
            <a:endParaRPr lang="en-US" sz="20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3CC4D9F-43F1-79CA-9E83-971CD23E61DE}"/>
              </a:ext>
            </a:extLst>
          </p:cNvPr>
          <p:cNvSpPr txBox="1">
            <a:spLocks/>
          </p:cNvSpPr>
          <p:nvPr/>
        </p:nvSpPr>
        <p:spPr>
          <a:xfrm>
            <a:off x="5260258" y="1482428"/>
            <a:ext cx="4994787" cy="549580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2711280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D32C73-2E66-487E-AB4A-CDAAD230D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256205-FE64-3E39-6588-CADD448CE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rmAutofit/>
          </a:bodyPr>
          <a:lstStyle/>
          <a:p>
            <a:r>
              <a:rPr lang="en-US" sz="2400" dirty="0"/>
              <a:t>Trace-Based Evaluation: Verifying Behavior, Not Just Output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D3E7F-6B26-EF60-3D19-EB41C67899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684095"/>
            <a:ext cx="5075264" cy="3492868"/>
          </a:xfrm>
        </p:spPr>
        <p:txBody>
          <a:bodyPr>
            <a:normAutofit fontScale="77500" lnSpcReduction="20000"/>
          </a:bodyPr>
          <a:lstStyle/>
          <a:p>
            <a:r>
              <a:rPr lang="en-US" sz="3000" dirty="0"/>
              <a:t>Trace-based evaluation inspects the complete execution trajectory of an agent, not just its final output.</a:t>
            </a:r>
          </a:p>
          <a:p>
            <a:pPr marL="0" indent="0">
              <a:buNone/>
            </a:pPr>
            <a:r>
              <a:rPr lang="en-US" sz="2600" b="1" dirty="0"/>
              <a:t>A trace includes:</a:t>
            </a:r>
          </a:p>
          <a:p>
            <a:pPr lvl="1"/>
            <a:r>
              <a:rPr lang="en-US" sz="2600" dirty="0"/>
              <a:t>tool calls</a:t>
            </a:r>
          </a:p>
          <a:p>
            <a:pPr lvl="1"/>
            <a:r>
              <a:rPr lang="en-US" sz="2600" dirty="0"/>
              <a:t>Parameters</a:t>
            </a:r>
          </a:p>
          <a:p>
            <a:pPr lvl="1"/>
            <a:r>
              <a:rPr lang="en-US" sz="2600" dirty="0"/>
              <a:t> API responses</a:t>
            </a:r>
          </a:p>
          <a:p>
            <a:pPr lvl="1"/>
            <a:r>
              <a:rPr lang="en-US" sz="2600" dirty="0"/>
              <a:t> validation steps</a:t>
            </a:r>
          </a:p>
          <a:p>
            <a:pPr lvl="1"/>
            <a:r>
              <a:rPr lang="en-US" sz="2600" dirty="0"/>
              <a:t> reasoning decisions</a:t>
            </a:r>
          </a:p>
          <a:p>
            <a:pPr lvl="1"/>
            <a:r>
              <a:rPr lang="en-US" sz="2600" dirty="0"/>
              <a:t> Final report generation</a:t>
            </a:r>
          </a:p>
          <a:p>
            <a:pPr marL="0" indent="0">
              <a:buNone/>
            </a:pPr>
            <a:br>
              <a:rPr lang="en-US" sz="1500" dirty="0"/>
            </a:br>
            <a:endParaRPr lang="en-US" sz="1500" dirty="0"/>
          </a:p>
          <a:p>
            <a:pPr marL="0" indent="0">
              <a:buNone/>
            </a:pPr>
            <a:endParaRPr lang="en-US" sz="15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AAF930-B8BE-0C1C-9796-834DF9B1D7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744" y="1616497"/>
            <a:ext cx="5825532" cy="4908481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4F1274F-628E-9C02-42F4-7D0B163851A1}"/>
              </a:ext>
            </a:extLst>
          </p:cNvPr>
          <p:cNvSpPr txBox="1">
            <a:spLocks/>
          </p:cNvSpPr>
          <p:nvPr/>
        </p:nvSpPr>
        <p:spPr>
          <a:xfrm>
            <a:off x="5260258" y="1482428"/>
            <a:ext cx="4994787" cy="549580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EA1067C-D078-B566-53BB-36247EA2975E}"/>
              </a:ext>
            </a:extLst>
          </p:cNvPr>
          <p:cNvSpPr txBox="1">
            <a:spLocks/>
          </p:cNvSpPr>
          <p:nvPr/>
        </p:nvSpPr>
        <p:spPr>
          <a:xfrm>
            <a:off x="5544163" y="1736730"/>
            <a:ext cx="5142271" cy="42868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73103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029D5AD-8348-4446-B191-6A9B6FE03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Freeform: Shape 18">
            <a:extLst>
              <a:ext uri="{FF2B5EF4-FFF2-40B4-BE49-F238E27FC236}">
                <a16:creationId xmlns:a16="http://schemas.microsoft.com/office/drawing/2014/main" id="{A3F395A2-2B64-4749-BD93-2F159C7E1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1899601"/>
          </a:xfrm>
          <a:custGeom>
            <a:avLst/>
            <a:gdLst>
              <a:gd name="connsiteX0" fmla="*/ 0 w 12188952"/>
              <a:gd name="connsiteY0" fmla="*/ 0 h 1899601"/>
              <a:gd name="connsiteX1" fmla="*/ 12188952 w 12188952"/>
              <a:gd name="connsiteY1" fmla="*/ 0 h 1899601"/>
              <a:gd name="connsiteX2" fmla="*/ 12188952 w 12188952"/>
              <a:gd name="connsiteY2" fmla="*/ 1635106 h 1899601"/>
              <a:gd name="connsiteX3" fmla="*/ 11356325 w 12188952"/>
              <a:gd name="connsiteY3" fmla="*/ 1707615 h 1899601"/>
              <a:gd name="connsiteX4" fmla="*/ 6096001 w 12188952"/>
              <a:gd name="connsiteY4" fmla="*/ 1899601 h 1899601"/>
              <a:gd name="connsiteX5" fmla="*/ 835678 w 12188952"/>
              <a:gd name="connsiteY5" fmla="*/ 1707615 h 1899601"/>
              <a:gd name="connsiteX6" fmla="*/ 0 w 12188952"/>
              <a:gd name="connsiteY6" fmla="*/ 1634841 h 1899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88952" h="1899601">
                <a:moveTo>
                  <a:pt x="0" y="0"/>
                </a:moveTo>
                <a:lnTo>
                  <a:pt x="12188952" y="0"/>
                </a:lnTo>
                <a:lnTo>
                  <a:pt x="12188952" y="1635106"/>
                </a:lnTo>
                <a:lnTo>
                  <a:pt x="11356325" y="1707615"/>
                </a:lnTo>
                <a:cubicBezTo>
                  <a:pt x="9739512" y="1831240"/>
                  <a:pt x="7961919" y="1899601"/>
                  <a:pt x="6096001" y="1899601"/>
                </a:cubicBezTo>
                <a:cubicBezTo>
                  <a:pt x="4230084" y="1899601"/>
                  <a:pt x="2452490" y="1831240"/>
                  <a:pt x="835678" y="1707615"/>
                </a:cubicBezTo>
                <a:lnTo>
                  <a:pt x="0" y="1634841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1" name="Freeform: Shape 20">
            <a:extLst>
              <a:ext uri="{FF2B5EF4-FFF2-40B4-BE49-F238E27FC236}">
                <a16:creationId xmlns:a16="http://schemas.microsoft.com/office/drawing/2014/main" id="{5CF0135B-EAB8-4CA0-896C-2D897ECD2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890722"/>
          </a:xfrm>
          <a:custGeom>
            <a:avLst/>
            <a:gdLst>
              <a:gd name="connsiteX0" fmla="*/ 0 w 12192000"/>
              <a:gd name="connsiteY0" fmla="*/ 0 h 1890722"/>
              <a:gd name="connsiteX1" fmla="*/ 12192000 w 12192000"/>
              <a:gd name="connsiteY1" fmla="*/ 0 h 1890722"/>
              <a:gd name="connsiteX2" fmla="*/ 12192000 w 12192000"/>
              <a:gd name="connsiteY2" fmla="*/ 1626227 h 1890722"/>
              <a:gd name="connsiteX3" fmla="*/ 11359165 w 12192000"/>
              <a:gd name="connsiteY3" fmla="*/ 1698736 h 1890722"/>
              <a:gd name="connsiteX4" fmla="*/ 6097526 w 12192000"/>
              <a:gd name="connsiteY4" fmla="*/ 1890722 h 1890722"/>
              <a:gd name="connsiteX5" fmla="*/ 835887 w 12192000"/>
              <a:gd name="connsiteY5" fmla="*/ 1698736 h 1890722"/>
              <a:gd name="connsiteX6" fmla="*/ 0 w 12192000"/>
              <a:gd name="connsiteY6" fmla="*/ 1625962 h 1890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890722">
                <a:moveTo>
                  <a:pt x="0" y="0"/>
                </a:moveTo>
                <a:lnTo>
                  <a:pt x="12192000" y="0"/>
                </a:lnTo>
                <a:lnTo>
                  <a:pt x="12192000" y="1626227"/>
                </a:lnTo>
                <a:lnTo>
                  <a:pt x="11359165" y="1698736"/>
                </a:lnTo>
                <a:cubicBezTo>
                  <a:pt x="9741947" y="1822361"/>
                  <a:pt x="7963910" y="1890722"/>
                  <a:pt x="6097526" y="1890722"/>
                </a:cubicBezTo>
                <a:cubicBezTo>
                  <a:pt x="4231142" y="1890722"/>
                  <a:pt x="2453104" y="1822361"/>
                  <a:pt x="835887" y="1698736"/>
                </a:cubicBezTo>
                <a:lnTo>
                  <a:pt x="0" y="1625962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4B14D8-D1C8-FBDE-B428-0D49EFF71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3397"/>
            <a:ext cx="10515600" cy="1273233"/>
          </a:xfrm>
        </p:spPr>
        <p:txBody>
          <a:bodyPr>
            <a:normAutofit/>
          </a:bodyPr>
          <a:lstStyle/>
          <a:p>
            <a:r>
              <a:rPr lang="en-US" sz="4000"/>
              <a:t>Anatomy of the Execution Trace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2C3387C-D24F-4737-8A37-1DC5CFF09C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2452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5E0B5-45AE-60CC-FA5F-58D1377DA4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78024"/>
            <a:ext cx="10515600" cy="3694176"/>
          </a:xfrm>
        </p:spPr>
        <p:txBody>
          <a:bodyPr>
            <a:normAutofit/>
          </a:bodyPr>
          <a:lstStyle/>
          <a:p>
            <a:r>
              <a:rPr lang="en-US" sz="2200" dirty="0"/>
              <a:t>A trace is a structured log capturing the complete execution trajectory of an AI agent.</a:t>
            </a:r>
          </a:p>
          <a:p>
            <a:r>
              <a:rPr lang="en-US" sz="2200" dirty="0"/>
              <a:t>Each action performed by the agent is recorded as a step. Includes:</a:t>
            </a:r>
          </a:p>
          <a:p>
            <a:pPr lvl="1"/>
            <a:r>
              <a:rPr lang="en-US" sz="2200" dirty="0"/>
              <a:t>Step number</a:t>
            </a:r>
          </a:p>
          <a:p>
            <a:pPr lvl="1"/>
            <a:r>
              <a:rPr lang="en-US" sz="2200" dirty="0"/>
              <a:t>Agent role (assistant, tool, system)</a:t>
            </a:r>
          </a:p>
          <a:p>
            <a:pPr lvl="1"/>
            <a:r>
              <a:rPr lang="en-US" sz="2200" dirty="0"/>
              <a:t>Action type (reasoning step or tool call)</a:t>
            </a:r>
          </a:p>
          <a:p>
            <a:r>
              <a:rPr lang="en-US" sz="2200" dirty="0"/>
              <a:t>This helps reconstruct the </a:t>
            </a:r>
            <a:r>
              <a:rPr lang="en-US" sz="2200" b="1" dirty="0"/>
              <a:t>sequence of decisions</a:t>
            </a:r>
            <a:r>
              <a:rPr lang="en-US" sz="2200" dirty="0"/>
              <a:t>.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40675030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029D5AD-8348-4446-B191-6A9B6FE03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Freeform: Shape 18">
            <a:extLst>
              <a:ext uri="{FF2B5EF4-FFF2-40B4-BE49-F238E27FC236}">
                <a16:creationId xmlns:a16="http://schemas.microsoft.com/office/drawing/2014/main" id="{A3F395A2-2B64-4749-BD93-2F159C7E1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1899601"/>
          </a:xfrm>
          <a:custGeom>
            <a:avLst/>
            <a:gdLst>
              <a:gd name="connsiteX0" fmla="*/ 0 w 12188952"/>
              <a:gd name="connsiteY0" fmla="*/ 0 h 1899601"/>
              <a:gd name="connsiteX1" fmla="*/ 12188952 w 12188952"/>
              <a:gd name="connsiteY1" fmla="*/ 0 h 1899601"/>
              <a:gd name="connsiteX2" fmla="*/ 12188952 w 12188952"/>
              <a:gd name="connsiteY2" fmla="*/ 1635106 h 1899601"/>
              <a:gd name="connsiteX3" fmla="*/ 11356325 w 12188952"/>
              <a:gd name="connsiteY3" fmla="*/ 1707615 h 1899601"/>
              <a:gd name="connsiteX4" fmla="*/ 6096001 w 12188952"/>
              <a:gd name="connsiteY4" fmla="*/ 1899601 h 1899601"/>
              <a:gd name="connsiteX5" fmla="*/ 835678 w 12188952"/>
              <a:gd name="connsiteY5" fmla="*/ 1707615 h 1899601"/>
              <a:gd name="connsiteX6" fmla="*/ 0 w 12188952"/>
              <a:gd name="connsiteY6" fmla="*/ 1634841 h 1899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88952" h="1899601">
                <a:moveTo>
                  <a:pt x="0" y="0"/>
                </a:moveTo>
                <a:lnTo>
                  <a:pt x="12188952" y="0"/>
                </a:lnTo>
                <a:lnTo>
                  <a:pt x="12188952" y="1635106"/>
                </a:lnTo>
                <a:lnTo>
                  <a:pt x="11356325" y="1707615"/>
                </a:lnTo>
                <a:cubicBezTo>
                  <a:pt x="9739512" y="1831240"/>
                  <a:pt x="7961919" y="1899601"/>
                  <a:pt x="6096001" y="1899601"/>
                </a:cubicBezTo>
                <a:cubicBezTo>
                  <a:pt x="4230084" y="1899601"/>
                  <a:pt x="2452490" y="1831240"/>
                  <a:pt x="835678" y="1707615"/>
                </a:cubicBezTo>
                <a:lnTo>
                  <a:pt x="0" y="1634841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1" name="Freeform: Shape 20">
            <a:extLst>
              <a:ext uri="{FF2B5EF4-FFF2-40B4-BE49-F238E27FC236}">
                <a16:creationId xmlns:a16="http://schemas.microsoft.com/office/drawing/2014/main" id="{5CF0135B-EAB8-4CA0-896C-2D897ECD2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890722"/>
          </a:xfrm>
          <a:custGeom>
            <a:avLst/>
            <a:gdLst>
              <a:gd name="connsiteX0" fmla="*/ 0 w 12192000"/>
              <a:gd name="connsiteY0" fmla="*/ 0 h 1890722"/>
              <a:gd name="connsiteX1" fmla="*/ 12192000 w 12192000"/>
              <a:gd name="connsiteY1" fmla="*/ 0 h 1890722"/>
              <a:gd name="connsiteX2" fmla="*/ 12192000 w 12192000"/>
              <a:gd name="connsiteY2" fmla="*/ 1626227 h 1890722"/>
              <a:gd name="connsiteX3" fmla="*/ 11359165 w 12192000"/>
              <a:gd name="connsiteY3" fmla="*/ 1698736 h 1890722"/>
              <a:gd name="connsiteX4" fmla="*/ 6097526 w 12192000"/>
              <a:gd name="connsiteY4" fmla="*/ 1890722 h 1890722"/>
              <a:gd name="connsiteX5" fmla="*/ 835887 w 12192000"/>
              <a:gd name="connsiteY5" fmla="*/ 1698736 h 1890722"/>
              <a:gd name="connsiteX6" fmla="*/ 0 w 12192000"/>
              <a:gd name="connsiteY6" fmla="*/ 1625962 h 1890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890722">
                <a:moveTo>
                  <a:pt x="0" y="0"/>
                </a:moveTo>
                <a:lnTo>
                  <a:pt x="12192000" y="0"/>
                </a:lnTo>
                <a:lnTo>
                  <a:pt x="12192000" y="1626227"/>
                </a:lnTo>
                <a:lnTo>
                  <a:pt x="11359165" y="1698736"/>
                </a:lnTo>
                <a:cubicBezTo>
                  <a:pt x="9741947" y="1822361"/>
                  <a:pt x="7963910" y="1890722"/>
                  <a:pt x="6097526" y="1890722"/>
                </a:cubicBezTo>
                <a:cubicBezTo>
                  <a:pt x="4231142" y="1890722"/>
                  <a:pt x="2453104" y="1822361"/>
                  <a:pt x="835887" y="1698736"/>
                </a:cubicBezTo>
                <a:lnTo>
                  <a:pt x="0" y="1625962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CDA3ED-2D49-3433-8044-620CCFDCD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3397"/>
            <a:ext cx="10515600" cy="1273233"/>
          </a:xfrm>
        </p:spPr>
        <p:txBody>
          <a:bodyPr>
            <a:normAutofit/>
          </a:bodyPr>
          <a:lstStyle/>
          <a:p>
            <a:r>
              <a:rPr lang="en-US" sz="4000"/>
              <a:t>Key Components Recorded in a Trace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2C3387C-D24F-4737-8A37-1DC5CFF09C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2452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4524B7-4A0C-8234-1003-755014EE0D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974" y="2074606"/>
            <a:ext cx="11117826" cy="4529996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3600" dirty="0"/>
              <a:t>Trace entries capture several elements:</a:t>
            </a:r>
          </a:p>
          <a:p>
            <a:pPr marL="0" indent="0">
              <a:buNone/>
            </a:pPr>
            <a:r>
              <a:rPr lang="en-US" sz="2900" b="1" dirty="0"/>
              <a:t>Tool Invocation</a:t>
            </a:r>
          </a:p>
          <a:p>
            <a:pPr lvl="1"/>
            <a:r>
              <a:rPr lang="en-US" sz="2900" dirty="0"/>
              <a:t>tool name</a:t>
            </a:r>
          </a:p>
          <a:p>
            <a:pPr lvl="1"/>
            <a:r>
              <a:rPr lang="en-US" sz="2900" dirty="0"/>
              <a:t>Parameters</a:t>
            </a:r>
          </a:p>
          <a:p>
            <a:pPr lvl="1"/>
            <a:r>
              <a:rPr lang="en-US" sz="2900" dirty="0"/>
              <a:t>API endpoint</a:t>
            </a:r>
          </a:p>
          <a:p>
            <a:pPr marL="0" indent="0">
              <a:buNone/>
            </a:pPr>
            <a:r>
              <a:rPr lang="en-US" sz="2900" b="1" dirty="0"/>
              <a:t>Tool Response</a:t>
            </a:r>
          </a:p>
          <a:p>
            <a:pPr lvl="1"/>
            <a:r>
              <a:rPr lang="en-US" sz="2900" dirty="0"/>
              <a:t>HTTP status code</a:t>
            </a:r>
          </a:p>
          <a:p>
            <a:pPr lvl="1"/>
            <a:r>
              <a:rPr lang="en-US" sz="2900" dirty="0"/>
              <a:t>response body</a:t>
            </a:r>
          </a:p>
          <a:p>
            <a:pPr lvl="1"/>
            <a:r>
              <a:rPr lang="en-US" sz="2900" dirty="0"/>
              <a:t> error messages</a:t>
            </a:r>
          </a:p>
          <a:p>
            <a:pPr marL="0" indent="0">
              <a:buNone/>
            </a:pPr>
            <a:r>
              <a:rPr lang="en-US" sz="2900" b="1" dirty="0"/>
              <a:t>Validation Evidence</a:t>
            </a:r>
          </a:p>
          <a:p>
            <a:pPr lvl="1"/>
            <a:r>
              <a:rPr lang="en-US" sz="2900" dirty="0"/>
              <a:t>schema validation results</a:t>
            </a:r>
          </a:p>
          <a:p>
            <a:pPr lvl="1"/>
            <a:r>
              <a:rPr lang="en-US" sz="2900" dirty="0"/>
              <a:t>flags such as valid=true/false</a:t>
            </a:r>
          </a:p>
          <a:p>
            <a:pPr marL="0" indent="0">
              <a:buNone/>
            </a:pPr>
            <a:r>
              <a:rPr lang="en-US" sz="2900" b="1" dirty="0"/>
              <a:t>Final Report Data</a:t>
            </a:r>
          </a:p>
          <a:p>
            <a:pPr lvl="1"/>
            <a:r>
              <a:rPr lang="en-US" sz="2900" dirty="0"/>
              <a:t> total tests</a:t>
            </a:r>
          </a:p>
          <a:p>
            <a:pPr lvl="1"/>
            <a:r>
              <a:rPr lang="en-US" sz="2900" dirty="0"/>
              <a:t> success count</a:t>
            </a:r>
          </a:p>
          <a:p>
            <a:pPr lvl="1"/>
            <a:r>
              <a:rPr lang="en-US" sz="2900" dirty="0"/>
              <a:t>error count</a:t>
            </a:r>
          </a:p>
          <a:p>
            <a:endParaRPr lang="en-US" sz="600" dirty="0"/>
          </a:p>
        </p:txBody>
      </p:sp>
    </p:spTree>
    <p:extLst>
      <p:ext uri="{BB962C8B-B14F-4D97-AF65-F5344CB8AC3E}">
        <p14:creationId xmlns:p14="http://schemas.microsoft.com/office/powerpoint/2010/main" val="20026769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029D5AD-8348-4446-B191-6A9B6FE03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Freeform: Shape 18">
            <a:extLst>
              <a:ext uri="{FF2B5EF4-FFF2-40B4-BE49-F238E27FC236}">
                <a16:creationId xmlns:a16="http://schemas.microsoft.com/office/drawing/2014/main" id="{A3F395A2-2B64-4749-BD93-2F159C7E1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1899601"/>
          </a:xfrm>
          <a:custGeom>
            <a:avLst/>
            <a:gdLst>
              <a:gd name="connsiteX0" fmla="*/ 0 w 12188952"/>
              <a:gd name="connsiteY0" fmla="*/ 0 h 1899601"/>
              <a:gd name="connsiteX1" fmla="*/ 12188952 w 12188952"/>
              <a:gd name="connsiteY1" fmla="*/ 0 h 1899601"/>
              <a:gd name="connsiteX2" fmla="*/ 12188952 w 12188952"/>
              <a:gd name="connsiteY2" fmla="*/ 1635106 h 1899601"/>
              <a:gd name="connsiteX3" fmla="*/ 11356325 w 12188952"/>
              <a:gd name="connsiteY3" fmla="*/ 1707615 h 1899601"/>
              <a:gd name="connsiteX4" fmla="*/ 6096001 w 12188952"/>
              <a:gd name="connsiteY4" fmla="*/ 1899601 h 1899601"/>
              <a:gd name="connsiteX5" fmla="*/ 835678 w 12188952"/>
              <a:gd name="connsiteY5" fmla="*/ 1707615 h 1899601"/>
              <a:gd name="connsiteX6" fmla="*/ 0 w 12188952"/>
              <a:gd name="connsiteY6" fmla="*/ 1634841 h 1899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88952" h="1899601">
                <a:moveTo>
                  <a:pt x="0" y="0"/>
                </a:moveTo>
                <a:lnTo>
                  <a:pt x="12188952" y="0"/>
                </a:lnTo>
                <a:lnTo>
                  <a:pt x="12188952" y="1635106"/>
                </a:lnTo>
                <a:lnTo>
                  <a:pt x="11356325" y="1707615"/>
                </a:lnTo>
                <a:cubicBezTo>
                  <a:pt x="9739512" y="1831240"/>
                  <a:pt x="7961919" y="1899601"/>
                  <a:pt x="6096001" y="1899601"/>
                </a:cubicBezTo>
                <a:cubicBezTo>
                  <a:pt x="4230084" y="1899601"/>
                  <a:pt x="2452490" y="1831240"/>
                  <a:pt x="835678" y="1707615"/>
                </a:cubicBezTo>
                <a:lnTo>
                  <a:pt x="0" y="1634841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1" name="Freeform: Shape 20">
            <a:extLst>
              <a:ext uri="{FF2B5EF4-FFF2-40B4-BE49-F238E27FC236}">
                <a16:creationId xmlns:a16="http://schemas.microsoft.com/office/drawing/2014/main" id="{5CF0135B-EAB8-4CA0-896C-2D897ECD2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890722"/>
          </a:xfrm>
          <a:custGeom>
            <a:avLst/>
            <a:gdLst>
              <a:gd name="connsiteX0" fmla="*/ 0 w 12192000"/>
              <a:gd name="connsiteY0" fmla="*/ 0 h 1890722"/>
              <a:gd name="connsiteX1" fmla="*/ 12192000 w 12192000"/>
              <a:gd name="connsiteY1" fmla="*/ 0 h 1890722"/>
              <a:gd name="connsiteX2" fmla="*/ 12192000 w 12192000"/>
              <a:gd name="connsiteY2" fmla="*/ 1626227 h 1890722"/>
              <a:gd name="connsiteX3" fmla="*/ 11359165 w 12192000"/>
              <a:gd name="connsiteY3" fmla="*/ 1698736 h 1890722"/>
              <a:gd name="connsiteX4" fmla="*/ 6097526 w 12192000"/>
              <a:gd name="connsiteY4" fmla="*/ 1890722 h 1890722"/>
              <a:gd name="connsiteX5" fmla="*/ 835887 w 12192000"/>
              <a:gd name="connsiteY5" fmla="*/ 1698736 h 1890722"/>
              <a:gd name="connsiteX6" fmla="*/ 0 w 12192000"/>
              <a:gd name="connsiteY6" fmla="*/ 1625962 h 1890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890722">
                <a:moveTo>
                  <a:pt x="0" y="0"/>
                </a:moveTo>
                <a:lnTo>
                  <a:pt x="12192000" y="0"/>
                </a:lnTo>
                <a:lnTo>
                  <a:pt x="12192000" y="1626227"/>
                </a:lnTo>
                <a:lnTo>
                  <a:pt x="11359165" y="1698736"/>
                </a:lnTo>
                <a:cubicBezTo>
                  <a:pt x="9741947" y="1822361"/>
                  <a:pt x="7963910" y="1890722"/>
                  <a:pt x="6097526" y="1890722"/>
                </a:cubicBezTo>
                <a:cubicBezTo>
                  <a:pt x="4231142" y="1890722"/>
                  <a:pt x="2453104" y="1822361"/>
                  <a:pt x="835887" y="1698736"/>
                </a:cubicBezTo>
                <a:lnTo>
                  <a:pt x="0" y="1625962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04132A-1DF8-0CFF-B734-2852E576D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3397"/>
            <a:ext cx="10515600" cy="1273233"/>
          </a:xfrm>
        </p:spPr>
        <p:txBody>
          <a:bodyPr>
            <a:normAutofit/>
          </a:bodyPr>
          <a:lstStyle/>
          <a:p>
            <a:r>
              <a:rPr lang="en-US" sz="4000"/>
              <a:t>What AgentEval Checks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2C3387C-D24F-4737-8A37-1DC5CFF09C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2452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E56143-B24C-44A1-5A56-37FCA89F26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78024"/>
            <a:ext cx="10515600" cy="369417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err="1"/>
              <a:t>AgentEval</a:t>
            </a:r>
            <a:r>
              <a:rPr lang="en-US" dirty="0"/>
              <a:t> inspects the trace and verifies agent behavior.</a:t>
            </a:r>
          </a:p>
          <a:p>
            <a:pPr marL="0" indent="0">
              <a:buNone/>
            </a:pPr>
            <a:r>
              <a:rPr lang="en-US" dirty="0"/>
              <a:t>Key checks:</a:t>
            </a:r>
          </a:p>
          <a:p>
            <a:r>
              <a:rPr lang="en-US" sz="1800" b="1" dirty="0"/>
              <a:t>Step Accuracy</a:t>
            </a:r>
            <a:br>
              <a:rPr lang="en-US" sz="1800" dirty="0"/>
            </a:br>
            <a:r>
              <a:rPr lang="en-US" sz="1800" dirty="0"/>
              <a:t>Did the agent follow the correct workflow order?</a:t>
            </a:r>
          </a:p>
          <a:p>
            <a:r>
              <a:rPr lang="en-US" sz="1800" b="1" dirty="0"/>
              <a:t>Tool Accuracy</a:t>
            </a:r>
            <a:br>
              <a:rPr lang="en-US" sz="1800" dirty="0"/>
            </a:br>
            <a:r>
              <a:rPr lang="en-US" sz="1800" dirty="0"/>
              <a:t>Were the correct tools invoked with the correct parameters?</a:t>
            </a:r>
          </a:p>
          <a:p>
            <a:r>
              <a:rPr lang="en-US" sz="1800" b="1" dirty="0"/>
              <a:t>Response Interpretation</a:t>
            </a:r>
            <a:br>
              <a:rPr lang="en-US" sz="1800" dirty="0"/>
            </a:br>
            <a:r>
              <a:rPr lang="en-US" sz="1800" dirty="0"/>
              <a:t>Did the agent interpret API responses correctly?</a:t>
            </a:r>
          </a:p>
          <a:p>
            <a:r>
              <a:rPr lang="en-US" sz="1800" b="1" dirty="0"/>
              <a:t>Validation Execution</a:t>
            </a:r>
            <a:br>
              <a:rPr lang="en-US" sz="1800" dirty="0"/>
            </a:br>
            <a:r>
              <a:rPr lang="en-US" sz="1800" dirty="0"/>
              <a:t>Did schema validation actually occur?</a:t>
            </a:r>
          </a:p>
          <a:p>
            <a:r>
              <a:rPr lang="en-US" sz="1800" b="1" dirty="0"/>
              <a:t>Final Report Consistency</a:t>
            </a:r>
            <a:br>
              <a:rPr lang="en-US" sz="1800" dirty="0"/>
            </a:br>
            <a:r>
              <a:rPr lang="en-US" sz="1800" dirty="0"/>
              <a:t>Does the report match the trace evidence?</a:t>
            </a:r>
          </a:p>
          <a:p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40595521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873FDB-B25E-DCFF-C208-9C77AA1E1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2029D5AD-8348-4446-B191-6A9B6FE03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9" name="Freeform: Shape 48">
            <a:extLst>
              <a:ext uri="{FF2B5EF4-FFF2-40B4-BE49-F238E27FC236}">
                <a16:creationId xmlns:a16="http://schemas.microsoft.com/office/drawing/2014/main" id="{A3F395A2-2B64-4749-BD93-2F159C7E1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1899601"/>
          </a:xfrm>
          <a:custGeom>
            <a:avLst/>
            <a:gdLst>
              <a:gd name="connsiteX0" fmla="*/ 0 w 12188952"/>
              <a:gd name="connsiteY0" fmla="*/ 0 h 1899601"/>
              <a:gd name="connsiteX1" fmla="*/ 12188952 w 12188952"/>
              <a:gd name="connsiteY1" fmla="*/ 0 h 1899601"/>
              <a:gd name="connsiteX2" fmla="*/ 12188952 w 12188952"/>
              <a:gd name="connsiteY2" fmla="*/ 1635106 h 1899601"/>
              <a:gd name="connsiteX3" fmla="*/ 11356325 w 12188952"/>
              <a:gd name="connsiteY3" fmla="*/ 1707615 h 1899601"/>
              <a:gd name="connsiteX4" fmla="*/ 6096001 w 12188952"/>
              <a:gd name="connsiteY4" fmla="*/ 1899601 h 1899601"/>
              <a:gd name="connsiteX5" fmla="*/ 835678 w 12188952"/>
              <a:gd name="connsiteY5" fmla="*/ 1707615 h 1899601"/>
              <a:gd name="connsiteX6" fmla="*/ 0 w 12188952"/>
              <a:gd name="connsiteY6" fmla="*/ 1634841 h 1899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88952" h="1899601">
                <a:moveTo>
                  <a:pt x="0" y="0"/>
                </a:moveTo>
                <a:lnTo>
                  <a:pt x="12188952" y="0"/>
                </a:lnTo>
                <a:lnTo>
                  <a:pt x="12188952" y="1635106"/>
                </a:lnTo>
                <a:lnTo>
                  <a:pt x="11356325" y="1707615"/>
                </a:lnTo>
                <a:cubicBezTo>
                  <a:pt x="9739512" y="1831240"/>
                  <a:pt x="7961919" y="1899601"/>
                  <a:pt x="6096001" y="1899601"/>
                </a:cubicBezTo>
                <a:cubicBezTo>
                  <a:pt x="4230084" y="1899601"/>
                  <a:pt x="2452490" y="1831240"/>
                  <a:pt x="835678" y="1707615"/>
                </a:cubicBezTo>
                <a:lnTo>
                  <a:pt x="0" y="1634841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51" name="Freeform: Shape 50">
            <a:extLst>
              <a:ext uri="{FF2B5EF4-FFF2-40B4-BE49-F238E27FC236}">
                <a16:creationId xmlns:a16="http://schemas.microsoft.com/office/drawing/2014/main" id="{5CF0135B-EAB8-4CA0-896C-2D897ECD2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890722"/>
          </a:xfrm>
          <a:custGeom>
            <a:avLst/>
            <a:gdLst>
              <a:gd name="connsiteX0" fmla="*/ 0 w 12192000"/>
              <a:gd name="connsiteY0" fmla="*/ 0 h 1890722"/>
              <a:gd name="connsiteX1" fmla="*/ 12192000 w 12192000"/>
              <a:gd name="connsiteY1" fmla="*/ 0 h 1890722"/>
              <a:gd name="connsiteX2" fmla="*/ 12192000 w 12192000"/>
              <a:gd name="connsiteY2" fmla="*/ 1626227 h 1890722"/>
              <a:gd name="connsiteX3" fmla="*/ 11359165 w 12192000"/>
              <a:gd name="connsiteY3" fmla="*/ 1698736 h 1890722"/>
              <a:gd name="connsiteX4" fmla="*/ 6097526 w 12192000"/>
              <a:gd name="connsiteY4" fmla="*/ 1890722 h 1890722"/>
              <a:gd name="connsiteX5" fmla="*/ 835887 w 12192000"/>
              <a:gd name="connsiteY5" fmla="*/ 1698736 h 1890722"/>
              <a:gd name="connsiteX6" fmla="*/ 0 w 12192000"/>
              <a:gd name="connsiteY6" fmla="*/ 1625962 h 1890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890722">
                <a:moveTo>
                  <a:pt x="0" y="0"/>
                </a:moveTo>
                <a:lnTo>
                  <a:pt x="12192000" y="0"/>
                </a:lnTo>
                <a:lnTo>
                  <a:pt x="12192000" y="1626227"/>
                </a:lnTo>
                <a:lnTo>
                  <a:pt x="11359165" y="1698736"/>
                </a:lnTo>
                <a:cubicBezTo>
                  <a:pt x="9741947" y="1822361"/>
                  <a:pt x="7963910" y="1890722"/>
                  <a:pt x="6097526" y="1890722"/>
                </a:cubicBezTo>
                <a:cubicBezTo>
                  <a:pt x="4231142" y="1890722"/>
                  <a:pt x="2453104" y="1822361"/>
                  <a:pt x="835887" y="1698736"/>
                </a:cubicBezTo>
                <a:lnTo>
                  <a:pt x="0" y="1625962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AD23EB-A36F-2A84-7BA1-BC45B54B3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3397"/>
            <a:ext cx="10515600" cy="1273233"/>
          </a:xfrm>
        </p:spPr>
        <p:txBody>
          <a:bodyPr>
            <a:normAutofit/>
          </a:bodyPr>
          <a:lstStyle/>
          <a:p>
            <a:r>
              <a:rPr lang="en-US" sz="4000" b="1"/>
              <a:t>What AgentEval Evaluates</a:t>
            </a:r>
            <a:endParaRPr lang="en-US" sz="400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2C3387C-D24F-4737-8A37-1DC5CFF09C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2452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95C3F-A3AA-5282-F048-48AAFD7068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594" y="2330245"/>
            <a:ext cx="10685206" cy="4198373"/>
          </a:xfrm>
        </p:spPr>
        <p:txBody>
          <a:bodyPr>
            <a:normAutofit/>
          </a:bodyPr>
          <a:lstStyle/>
          <a:p>
            <a:r>
              <a:rPr lang="en-US" dirty="0" err="1"/>
              <a:t>AgentEval</a:t>
            </a:r>
            <a:r>
              <a:rPr lang="en-US" dirty="0"/>
              <a:t> evaluates the </a:t>
            </a:r>
            <a:r>
              <a:rPr lang="en-US" b="1" dirty="0"/>
              <a:t>entire agent trajectory</a:t>
            </a:r>
            <a:r>
              <a:rPr lang="en-US" dirty="0"/>
              <a:t> using multiple metrics.</a:t>
            </a:r>
          </a:p>
          <a:p>
            <a:pPr marL="457200" lvl="1" indent="0">
              <a:buNone/>
            </a:pPr>
            <a:r>
              <a:rPr lang="en-US" sz="1800" b="1" dirty="0"/>
              <a:t>Core Evaluation Metrics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800" b="1" dirty="0"/>
              <a:t>Step Accuracy</a:t>
            </a:r>
          </a:p>
          <a:p>
            <a:pPr marL="914400" lvl="2" indent="0">
              <a:buNone/>
            </a:pPr>
            <a:r>
              <a:rPr lang="en-US" sz="1800" dirty="0"/>
              <a:t>→ Did the agent follow the expected workflow order?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800" b="1" dirty="0"/>
              <a:t>Tool Accuracy</a:t>
            </a:r>
            <a:br>
              <a:rPr lang="en-US" sz="1800" dirty="0"/>
            </a:br>
            <a:r>
              <a:rPr lang="en-US" sz="1800" dirty="0"/>
              <a:t>→ Were the correct tools invoked with proper parameters?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800" b="1" dirty="0"/>
              <a:t>Schema Pass Rate</a:t>
            </a:r>
            <a:br>
              <a:rPr lang="en-US" sz="1800" dirty="0"/>
            </a:br>
            <a:r>
              <a:rPr lang="en-US" sz="1800" dirty="0"/>
              <a:t>→ Did API responses match the expected JSON schema?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800" b="1" dirty="0"/>
              <a:t>Failure Handling</a:t>
            </a:r>
            <a:br>
              <a:rPr lang="en-US" sz="1800" dirty="0"/>
            </a:br>
            <a:r>
              <a:rPr lang="en-US" sz="1800" dirty="0"/>
              <a:t>→ Were error cases (e.g., HTTP 404) interpreted correctly?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800" b="1" dirty="0"/>
              <a:t>Final Correctness</a:t>
            </a:r>
            <a:br>
              <a:rPr lang="en-US" sz="1100" dirty="0"/>
            </a:br>
            <a:r>
              <a:rPr lang="en-US" sz="1800" dirty="0"/>
              <a:t>→ Does the final report match the actual execution trace?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1500" b="1" dirty="0"/>
          </a:p>
        </p:txBody>
      </p:sp>
    </p:spTree>
    <p:extLst>
      <p:ext uri="{BB962C8B-B14F-4D97-AF65-F5344CB8AC3E}">
        <p14:creationId xmlns:p14="http://schemas.microsoft.com/office/powerpoint/2010/main" val="6104930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029D5AD-8348-4446-B191-6A9B6FE03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Freeform: Shape 18">
            <a:extLst>
              <a:ext uri="{FF2B5EF4-FFF2-40B4-BE49-F238E27FC236}">
                <a16:creationId xmlns:a16="http://schemas.microsoft.com/office/drawing/2014/main" id="{A3F395A2-2B64-4749-BD93-2F159C7E1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1899601"/>
          </a:xfrm>
          <a:custGeom>
            <a:avLst/>
            <a:gdLst>
              <a:gd name="connsiteX0" fmla="*/ 0 w 12188952"/>
              <a:gd name="connsiteY0" fmla="*/ 0 h 1899601"/>
              <a:gd name="connsiteX1" fmla="*/ 12188952 w 12188952"/>
              <a:gd name="connsiteY1" fmla="*/ 0 h 1899601"/>
              <a:gd name="connsiteX2" fmla="*/ 12188952 w 12188952"/>
              <a:gd name="connsiteY2" fmla="*/ 1635106 h 1899601"/>
              <a:gd name="connsiteX3" fmla="*/ 11356325 w 12188952"/>
              <a:gd name="connsiteY3" fmla="*/ 1707615 h 1899601"/>
              <a:gd name="connsiteX4" fmla="*/ 6096001 w 12188952"/>
              <a:gd name="connsiteY4" fmla="*/ 1899601 h 1899601"/>
              <a:gd name="connsiteX5" fmla="*/ 835678 w 12188952"/>
              <a:gd name="connsiteY5" fmla="*/ 1707615 h 1899601"/>
              <a:gd name="connsiteX6" fmla="*/ 0 w 12188952"/>
              <a:gd name="connsiteY6" fmla="*/ 1634841 h 1899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88952" h="1899601">
                <a:moveTo>
                  <a:pt x="0" y="0"/>
                </a:moveTo>
                <a:lnTo>
                  <a:pt x="12188952" y="0"/>
                </a:lnTo>
                <a:lnTo>
                  <a:pt x="12188952" y="1635106"/>
                </a:lnTo>
                <a:lnTo>
                  <a:pt x="11356325" y="1707615"/>
                </a:lnTo>
                <a:cubicBezTo>
                  <a:pt x="9739512" y="1831240"/>
                  <a:pt x="7961919" y="1899601"/>
                  <a:pt x="6096001" y="1899601"/>
                </a:cubicBezTo>
                <a:cubicBezTo>
                  <a:pt x="4230084" y="1899601"/>
                  <a:pt x="2452490" y="1831240"/>
                  <a:pt x="835678" y="1707615"/>
                </a:cubicBezTo>
                <a:lnTo>
                  <a:pt x="0" y="1634841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1" name="Freeform: Shape 20">
            <a:extLst>
              <a:ext uri="{FF2B5EF4-FFF2-40B4-BE49-F238E27FC236}">
                <a16:creationId xmlns:a16="http://schemas.microsoft.com/office/drawing/2014/main" id="{5CF0135B-EAB8-4CA0-896C-2D897ECD2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890722"/>
          </a:xfrm>
          <a:custGeom>
            <a:avLst/>
            <a:gdLst>
              <a:gd name="connsiteX0" fmla="*/ 0 w 12192000"/>
              <a:gd name="connsiteY0" fmla="*/ 0 h 1890722"/>
              <a:gd name="connsiteX1" fmla="*/ 12192000 w 12192000"/>
              <a:gd name="connsiteY1" fmla="*/ 0 h 1890722"/>
              <a:gd name="connsiteX2" fmla="*/ 12192000 w 12192000"/>
              <a:gd name="connsiteY2" fmla="*/ 1626227 h 1890722"/>
              <a:gd name="connsiteX3" fmla="*/ 11359165 w 12192000"/>
              <a:gd name="connsiteY3" fmla="*/ 1698736 h 1890722"/>
              <a:gd name="connsiteX4" fmla="*/ 6097526 w 12192000"/>
              <a:gd name="connsiteY4" fmla="*/ 1890722 h 1890722"/>
              <a:gd name="connsiteX5" fmla="*/ 835887 w 12192000"/>
              <a:gd name="connsiteY5" fmla="*/ 1698736 h 1890722"/>
              <a:gd name="connsiteX6" fmla="*/ 0 w 12192000"/>
              <a:gd name="connsiteY6" fmla="*/ 1625962 h 1890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890722">
                <a:moveTo>
                  <a:pt x="0" y="0"/>
                </a:moveTo>
                <a:lnTo>
                  <a:pt x="12192000" y="0"/>
                </a:lnTo>
                <a:lnTo>
                  <a:pt x="12192000" y="1626227"/>
                </a:lnTo>
                <a:lnTo>
                  <a:pt x="11359165" y="1698736"/>
                </a:lnTo>
                <a:cubicBezTo>
                  <a:pt x="9741947" y="1822361"/>
                  <a:pt x="7963910" y="1890722"/>
                  <a:pt x="6097526" y="1890722"/>
                </a:cubicBezTo>
                <a:cubicBezTo>
                  <a:pt x="4231142" y="1890722"/>
                  <a:pt x="2453104" y="1822361"/>
                  <a:pt x="835887" y="1698736"/>
                </a:cubicBezTo>
                <a:lnTo>
                  <a:pt x="0" y="1625962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45FB33-F595-2D98-2547-2BFB4BBD0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3397"/>
            <a:ext cx="10515600" cy="1273233"/>
          </a:xfrm>
        </p:spPr>
        <p:txBody>
          <a:bodyPr>
            <a:normAutofit/>
          </a:bodyPr>
          <a:lstStyle/>
          <a:p>
            <a:r>
              <a:rPr lang="en-US" sz="4000"/>
              <a:t>What AgentEval Flags in the 404 Case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2C3387C-D24F-4737-8A37-1DC5CFF09C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2452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96502-2AED-7679-D92B-456E93693C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78024"/>
            <a:ext cx="10515600" cy="3694176"/>
          </a:xfrm>
        </p:spPr>
        <p:txBody>
          <a:bodyPr>
            <a:normAutofit/>
          </a:bodyPr>
          <a:lstStyle/>
          <a:p>
            <a:r>
              <a:rPr lang="en-US" dirty="0"/>
              <a:t>Correct interpretation:</a:t>
            </a:r>
          </a:p>
          <a:p>
            <a:pPr marL="457200" lvl="1" indent="0">
              <a:buNone/>
            </a:pPr>
            <a:r>
              <a:rPr lang="en-US" sz="2800" dirty="0"/>
              <a:t>404 indicates an </a:t>
            </a:r>
            <a:r>
              <a:rPr lang="en-US" sz="2800" b="1" dirty="0"/>
              <a:t>error case</a:t>
            </a:r>
            <a:r>
              <a:rPr lang="en-US" sz="2800" dirty="0"/>
              <a:t>.</a:t>
            </a:r>
          </a:p>
          <a:p>
            <a:r>
              <a:rPr lang="en-US" dirty="0"/>
              <a:t>Failure scenario:</a:t>
            </a:r>
          </a:p>
          <a:p>
            <a:pPr marL="457200" lvl="1" indent="0">
              <a:buNone/>
            </a:pPr>
            <a:r>
              <a:rPr lang="en-US" sz="2800" dirty="0"/>
              <a:t>Agent incorrectly reports “Negative test passed.”</a:t>
            </a:r>
          </a:p>
          <a:p>
            <a:r>
              <a:rPr lang="en-US" dirty="0" err="1"/>
              <a:t>AgentEval</a:t>
            </a:r>
            <a:r>
              <a:rPr lang="en-US" dirty="0"/>
              <a:t> flags:</a:t>
            </a:r>
          </a:p>
          <a:p>
            <a:pPr marL="457200" lvl="1" indent="0">
              <a:buNone/>
            </a:pPr>
            <a:r>
              <a:rPr lang="en-US" sz="2800" dirty="0"/>
              <a:t> incorrect response interpretation</a:t>
            </a:r>
            <a:br>
              <a:rPr lang="en-US" sz="2800" dirty="0"/>
            </a:br>
            <a:r>
              <a:rPr lang="en-US" sz="2800" dirty="0"/>
              <a:t> mismatch between trace and final report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5592350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029D5AD-8348-4446-B191-6A9B6FE03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Freeform: Shape 18">
            <a:extLst>
              <a:ext uri="{FF2B5EF4-FFF2-40B4-BE49-F238E27FC236}">
                <a16:creationId xmlns:a16="http://schemas.microsoft.com/office/drawing/2014/main" id="{A3F395A2-2B64-4749-BD93-2F159C7E1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1899601"/>
          </a:xfrm>
          <a:custGeom>
            <a:avLst/>
            <a:gdLst>
              <a:gd name="connsiteX0" fmla="*/ 0 w 12188952"/>
              <a:gd name="connsiteY0" fmla="*/ 0 h 1899601"/>
              <a:gd name="connsiteX1" fmla="*/ 12188952 w 12188952"/>
              <a:gd name="connsiteY1" fmla="*/ 0 h 1899601"/>
              <a:gd name="connsiteX2" fmla="*/ 12188952 w 12188952"/>
              <a:gd name="connsiteY2" fmla="*/ 1635106 h 1899601"/>
              <a:gd name="connsiteX3" fmla="*/ 11356325 w 12188952"/>
              <a:gd name="connsiteY3" fmla="*/ 1707615 h 1899601"/>
              <a:gd name="connsiteX4" fmla="*/ 6096001 w 12188952"/>
              <a:gd name="connsiteY4" fmla="*/ 1899601 h 1899601"/>
              <a:gd name="connsiteX5" fmla="*/ 835678 w 12188952"/>
              <a:gd name="connsiteY5" fmla="*/ 1707615 h 1899601"/>
              <a:gd name="connsiteX6" fmla="*/ 0 w 12188952"/>
              <a:gd name="connsiteY6" fmla="*/ 1634841 h 1899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88952" h="1899601">
                <a:moveTo>
                  <a:pt x="0" y="0"/>
                </a:moveTo>
                <a:lnTo>
                  <a:pt x="12188952" y="0"/>
                </a:lnTo>
                <a:lnTo>
                  <a:pt x="12188952" y="1635106"/>
                </a:lnTo>
                <a:lnTo>
                  <a:pt x="11356325" y="1707615"/>
                </a:lnTo>
                <a:cubicBezTo>
                  <a:pt x="9739512" y="1831240"/>
                  <a:pt x="7961919" y="1899601"/>
                  <a:pt x="6096001" y="1899601"/>
                </a:cubicBezTo>
                <a:cubicBezTo>
                  <a:pt x="4230084" y="1899601"/>
                  <a:pt x="2452490" y="1831240"/>
                  <a:pt x="835678" y="1707615"/>
                </a:cubicBezTo>
                <a:lnTo>
                  <a:pt x="0" y="1634841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1" name="Freeform: Shape 20">
            <a:extLst>
              <a:ext uri="{FF2B5EF4-FFF2-40B4-BE49-F238E27FC236}">
                <a16:creationId xmlns:a16="http://schemas.microsoft.com/office/drawing/2014/main" id="{5CF0135B-EAB8-4CA0-896C-2D897ECD2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890722"/>
          </a:xfrm>
          <a:custGeom>
            <a:avLst/>
            <a:gdLst>
              <a:gd name="connsiteX0" fmla="*/ 0 w 12192000"/>
              <a:gd name="connsiteY0" fmla="*/ 0 h 1890722"/>
              <a:gd name="connsiteX1" fmla="*/ 12192000 w 12192000"/>
              <a:gd name="connsiteY1" fmla="*/ 0 h 1890722"/>
              <a:gd name="connsiteX2" fmla="*/ 12192000 w 12192000"/>
              <a:gd name="connsiteY2" fmla="*/ 1626227 h 1890722"/>
              <a:gd name="connsiteX3" fmla="*/ 11359165 w 12192000"/>
              <a:gd name="connsiteY3" fmla="*/ 1698736 h 1890722"/>
              <a:gd name="connsiteX4" fmla="*/ 6097526 w 12192000"/>
              <a:gd name="connsiteY4" fmla="*/ 1890722 h 1890722"/>
              <a:gd name="connsiteX5" fmla="*/ 835887 w 12192000"/>
              <a:gd name="connsiteY5" fmla="*/ 1698736 h 1890722"/>
              <a:gd name="connsiteX6" fmla="*/ 0 w 12192000"/>
              <a:gd name="connsiteY6" fmla="*/ 1625962 h 1890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890722">
                <a:moveTo>
                  <a:pt x="0" y="0"/>
                </a:moveTo>
                <a:lnTo>
                  <a:pt x="12192000" y="0"/>
                </a:lnTo>
                <a:lnTo>
                  <a:pt x="12192000" y="1626227"/>
                </a:lnTo>
                <a:lnTo>
                  <a:pt x="11359165" y="1698736"/>
                </a:lnTo>
                <a:cubicBezTo>
                  <a:pt x="9741947" y="1822361"/>
                  <a:pt x="7963910" y="1890722"/>
                  <a:pt x="6097526" y="1890722"/>
                </a:cubicBezTo>
                <a:cubicBezTo>
                  <a:pt x="4231142" y="1890722"/>
                  <a:pt x="2453104" y="1822361"/>
                  <a:pt x="835887" y="1698736"/>
                </a:cubicBezTo>
                <a:lnTo>
                  <a:pt x="0" y="1625962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3E9596-9CDF-8711-6B39-890C31ECE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3397"/>
            <a:ext cx="10515600" cy="1273233"/>
          </a:xfrm>
        </p:spPr>
        <p:txBody>
          <a:bodyPr>
            <a:normAutofit/>
          </a:bodyPr>
          <a:lstStyle/>
          <a:p>
            <a:r>
              <a:rPr lang="en-US" sz="4000"/>
              <a:t>Hands-On Demonstration: Running AgentEval Locally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2C3387C-D24F-4737-8A37-1DC5CFF09C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2452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BBDADF-F70D-F433-34AF-FC52515430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78024"/>
            <a:ext cx="10515600" cy="36941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Run a local </a:t>
            </a:r>
            <a:r>
              <a:rPr lang="en-US" dirty="0" err="1"/>
              <a:t>AgentEval</a:t>
            </a:r>
            <a:r>
              <a:rPr lang="en-US" dirty="0"/>
              <a:t> example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dirty="0"/>
              <a:t>Components:</a:t>
            </a:r>
          </a:p>
          <a:p>
            <a:r>
              <a:rPr lang="en-US" sz="2000" dirty="0"/>
              <a:t>mock API server</a:t>
            </a:r>
          </a:p>
          <a:p>
            <a:r>
              <a:rPr lang="en-US" sz="2000" dirty="0"/>
              <a:t>deterministic testing agent</a:t>
            </a:r>
          </a:p>
          <a:p>
            <a:r>
              <a:rPr lang="en-US" sz="2000" dirty="0"/>
              <a:t>execution trace</a:t>
            </a:r>
          </a:p>
          <a:p>
            <a:r>
              <a:rPr lang="en-US" sz="2000" dirty="0"/>
              <a:t>evaluation script</a:t>
            </a:r>
          </a:p>
          <a:p>
            <a:pPr marL="0" indent="0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8224463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731A2-8286-F46C-6884-BB3E531B1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run the </a:t>
            </a:r>
            <a:r>
              <a:rPr lang="en-US" dirty="0" err="1"/>
              <a:t>AgentEval</a:t>
            </a:r>
            <a:r>
              <a:rPr lang="en-US" dirty="0"/>
              <a:t> demonstration, we first prepare the environment.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3F632-1779-52E7-8ACE-CDF5FDCECB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91485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fr-FR" dirty="0"/>
              <a:t>git clone https://github.com/codemits/AgentEval.git</a:t>
            </a:r>
          </a:p>
          <a:p>
            <a:pPr marL="0" indent="0">
              <a:buNone/>
            </a:pPr>
            <a:r>
              <a:rPr lang="fr-FR" dirty="0"/>
              <a:t>        cd </a:t>
            </a:r>
            <a:r>
              <a:rPr lang="fr-FR" dirty="0" err="1"/>
              <a:t>AgentEval</a:t>
            </a:r>
            <a:br>
              <a:rPr lang="fr-FR" dirty="0"/>
            </a:br>
            <a:br>
              <a:rPr lang="fr-FR" dirty="0"/>
            </a:br>
            <a:r>
              <a:rPr lang="en-US" dirty="0"/>
              <a:t>2. Install Ollama (Local LLM Runtime)</a:t>
            </a:r>
            <a:br>
              <a:rPr lang="en-US" dirty="0"/>
            </a:br>
            <a:r>
              <a:rPr lang="en-US" dirty="0"/>
              <a:t>    Download from:  </a:t>
            </a:r>
            <a:r>
              <a:rPr lang="en-US" dirty="0">
                <a:hlinkClick r:id="rId2"/>
              </a:rPr>
              <a:t>https://ollama.com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     In terminal :  Ollama run llama3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3. Install Node.js and </a:t>
            </a:r>
            <a:r>
              <a:rPr lang="en-US" dirty="0" err="1"/>
              <a:t>npm</a:t>
            </a:r>
            <a:br>
              <a:rPr lang="fr-FR" dirty="0"/>
            </a:br>
            <a:r>
              <a:rPr lang="en-US" dirty="0"/>
              <a:t>Download from: </a:t>
            </a:r>
            <a:r>
              <a:rPr lang="en-US" dirty="0">
                <a:hlinkClick r:id="rId3"/>
              </a:rPr>
              <a:t>https://nodejs.org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To run the demonstration, we need to replace the </a:t>
            </a:r>
            <a:r>
              <a:rPr lang="en-US" dirty="0" err="1"/>
              <a:t>AgentEval</a:t>
            </a:r>
            <a:r>
              <a:rPr lang="en-US" dirty="0"/>
              <a:t>\</a:t>
            </a:r>
            <a:r>
              <a:rPr lang="en-US" dirty="0" err="1"/>
              <a:t>src</a:t>
            </a:r>
            <a:r>
              <a:rPr lang="en-US" dirty="0"/>
              <a:t> folder and configure all files to use Ollama instead of the original OpenAI and Azure Key requirements.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84866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378F1-4FD5-C089-3A9C-E4B490D42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 your project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BD2078-E999-D942-0CEC-5032DD43A0F8}"/>
              </a:ext>
            </a:extLst>
          </p:cNvPr>
          <p:cNvSpPr txBox="1"/>
          <p:nvPr/>
        </p:nvSpPr>
        <p:spPr>
          <a:xfrm>
            <a:off x="973394" y="1994220"/>
            <a:ext cx="777731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Open a terminal and run the following command:</a:t>
            </a:r>
          </a:p>
          <a:p>
            <a:r>
              <a:rPr lang="en-US" dirty="0"/>
              <a:t>PS C:\Users\hasan\OneDrive - Texas Tech University\Desktop\</a:t>
            </a:r>
            <a:r>
              <a:rPr lang="en-US" dirty="0" err="1"/>
              <a:t>AgentEval</a:t>
            </a:r>
            <a:r>
              <a:rPr lang="en-US" dirty="0"/>
              <a:t>&gt; </a:t>
            </a:r>
            <a:r>
              <a:rPr lang="en-US" dirty="0" err="1"/>
              <a:t>npm</a:t>
            </a:r>
            <a:r>
              <a:rPr lang="en-US" dirty="0"/>
              <a:t> run build</a:t>
            </a:r>
          </a:p>
          <a:p>
            <a:r>
              <a:rPr lang="en-US" dirty="0"/>
              <a:t>&gt;&gt;</a:t>
            </a:r>
          </a:p>
          <a:p>
            <a:r>
              <a:rPr lang="en-US" dirty="0"/>
              <a:t>&gt; agent-eval@1.0.0 build</a:t>
            </a:r>
          </a:p>
          <a:p>
            <a:r>
              <a:rPr lang="en-US" dirty="0"/>
              <a:t>&gt; </a:t>
            </a:r>
            <a:r>
              <a:rPr lang="en-US" dirty="0" err="1"/>
              <a:t>tsc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416DA18-59FA-7DC0-0C0C-8178313C39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239050"/>
            <a:ext cx="9731477" cy="149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0397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C3339-C652-503F-4F3A-50CBC2C65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the Mock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CBF80-BC71-794B-926B-8A4632A60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Before running the agent, we start the </a:t>
            </a:r>
            <a:r>
              <a:rPr lang="en-US" b="1" dirty="0"/>
              <a:t>mock API server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 Inside the </a:t>
            </a:r>
            <a:r>
              <a:rPr lang="en-US" dirty="0" err="1"/>
              <a:t>AgentEval</a:t>
            </a:r>
            <a:r>
              <a:rPr lang="en-US" dirty="0"/>
              <a:t> folder, run the terminal:</a:t>
            </a:r>
            <a:br>
              <a:rPr lang="en-US" dirty="0"/>
            </a:br>
            <a:r>
              <a:rPr lang="en-US" dirty="0"/>
              <a:t>                                </a:t>
            </a:r>
            <a:r>
              <a:rPr lang="en-US" dirty="0" err="1"/>
              <a:t>npm</a:t>
            </a:r>
            <a:r>
              <a:rPr lang="en-US" dirty="0"/>
              <a:t> run start: mock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B48085-B2DE-219D-B94B-43AA0BC659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949" y="3429000"/>
            <a:ext cx="11307753" cy="2467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4086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3F6CC-7A13-98FE-D798-8850D0B01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mock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74CB4-5D57-F129-32AA-F167118312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6959"/>
            <a:ext cx="10515600" cy="4351338"/>
          </a:xfrm>
        </p:spPr>
        <p:txBody>
          <a:bodyPr/>
          <a:lstStyle/>
          <a:p>
            <a:r>
              <a:rPr lang="en-US" dirty="0" err="1"/>
              <a:t>Agebt</a:t>
            </a:r>
            <a:r>
              <a:rPr lang="en-US" dirty="0"/>
              <a:t> call users/1 represent successful call</a:t>
            </a:r>
            <a:br>
              <a:rPr lang="en-US" dirty="0"/>
            </a:b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Agent calls users/-1, which represents an error call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74967B-A774-1CAD-DD15-5446D332D7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624" y="2400156"/>
            <a:ext cx="10764752" cy="20576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09C1B1F-8E21-DBA0-BDC9-86C26757D4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1" y="4957111"/>
            <a:ext cx="6720158" cy="1762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7953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48406-70D9-2870-2071-FC008E62F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the Testing Agent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598FF-E169-32E4-9B8A-BA1FB2689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05516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agent automatically performs the following tasks:</a:t>
            </a:r>
          </a:p>
          <a:p>
            <a:r>
              <a:rPr lang="en-US" dirty="0"/>
              <a:t>generates test user IDs</a:t>
            </a:r>
          </a:p>
          <a:p>
            <a:r>
              <a:rPr lang="en-US" dirty="0"/>
              <a:t> sends requests to the API</a:t>
            </a:r>
          </a:p>
          <a:p>
            <a:r>
              <a:rPr lang="en-US" dirty="0"/>
              <a:t>validates responses</a:t>
            </a:r>
          </a:p>
          <a:p>
            <a:r>
              <a:rPr lang="en-US" dirty="0"/>
              <a:t>records the execution trace</a:t>
            </a:r>
          </a:p>
          <a:p>
            <a:r>
              <a:rPr lang="en-US" dirty="0"/>
              <a:t>produces a final test report</a:t>
            </a:r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9D0D621-5B3D-B204-F652-FB432206DFFA}"/>
              </a:ext>
            </a:extLst>
          </p:cNvPr>
          <p:cNvSpPr txBox="1">
            <a:spLocks/>
          </p:cNvSpPr>
          <p:nvPr/>
        </p:nvSpPr>
        <p:spPr>
          <a:xfrm>
            <a:off x="6024716" y="1690688"/>
            <a:ext cx="480551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Open a new terminal and run the command: </a:t>
            </a:r>
            <a:br>
              <a:rPr lang="en-US" dirty="0"/>
            </a:br>
            <a:br>
              <a:rPr lang="en-US" dirty="0"/>
            </a:br>
            <a:r>
              <a:rPr lang="en-US" dirty="0" err="1"/>
              <a:t>npm</a:t>
            </a:r>
            <a:r>
              <a:rPr lang="en-US" dirty="0"/>
              <a:t> run agent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57DAEE-946B-3963-4F71-49B22FF8F8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3716" y="3465871"/>
            <a:ext cx="5967944" cy="102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9691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20076-2771-07A2-E527-F21488C2C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Agent Execution Trace and Test Results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3275F69-40FD-F6DA-40D4-1A814C1610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15645" y="1675285"/>
            <a:ext cx="7410776" cy="48175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4C518C-EEC7-E575-F141-B8866C8FD15F}"/>
              </a:ext>
            </a:extLst>
          </p:cNvPr>
          <p:cNvSpPr txBox="1"/>
          <p:nvPr/>
        </p:nvSpPr>
        <p:spPr>
          <a:xfrm>
            <a:off x="186813" y="1690688"/>
            <a:ext cx="3628832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Step 1 — Test Case Generation</a:t>
            </a:r>
          </a:p>
          <a:p>
            <a:r>
              <a:rPr lang="en-US" sz="1600" dirty="0"/>
              <a:t>[1, 50, 100, -1, 999]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/>
              <a:t>Step 2 — Valid API Request</a:t>
            </a:r>
          </a:p>
          <a:p>
            <a:r>
              <a:rPr lang="en-US" sz="1600" dirty="0"/>
              <a:t>Result: {"status":200,"data":{"id":50,"name":"User 50","email":"user50@example.com"}}</a:t>
            </a:r>
          </a:p>
          <a:p>
            <a:endParaRPr lang="en-US" sz="1600" dirty="0"/>
          </a:p>
          <a:p>
            <a:r>
              <a:rPr lang="en-US" sz="1600" dirty="0"/>
              <a:t>Step 3 — Invalid API Request</a:t>
            </a:r>
          </a:p>
          <a:p>
            <a:r>
              <a:rPr lang="en-US" sz="1600" dirty="0"/>
              <a:t>Result: {"status":404,"data":{"</a:t>
            </a:r>
            <a:r>
              <a:rPr lang="en-US" sz="1600" dirty="0" err="1"/>
              <a:t>error":"User</a:t>
            </a:r>
            <a:r>
              <a:rPr lang="en-US" sz="1600" dirty="0"/>
              <a:t> not found"}}</a:t>
            </a:r>
            <a:br>
              <a:rPr lang="en-US" sz="1600" dirty="0"/>
            </a:br>
            <a:r>
              <a:rPr lang="en-US" sz="1600" dirty="0"/>
              <a:t>Step 4 — Schema Validation</a:t>
            </a:r>
          </a:p>
          <a:p>
            <a:r>
              <a:rPr lang="en-US" sz="1600" dirty="0"/>
              <a:t>Result: {"</a:t>
            </a:r>
            <a:r>
              <a:rPr lang="en-US" sz="1600" dirty="0" err="1"/>
              <a:t>valid":false</a:t>
            </a:r>
            <a:r>
              <a:rPr lang="en-US" sz="1600" dirty="0"/>
              <a:t>}</a:t>
            </a:r>
          </a:p>
          <a:p>
            <a:r>
              <a:rPr lang="en-US" sz="1600" dirty="0"/>
              <a:t>Step 5 — Final Report</a:t>
            </a:r>
          </a:p>
          <a:p>
            <a:r>
              <a:rPr lang="en-US" sz="1600" dirty="0"/>
              <a:t>Total tests: 2</a:t>
            </a:r>
          </a:p>
          <a:p>
            <a:r>
              <a:rPr lang="en-US" sz="1600" dirty="0"/>
              <a:t>Successful: 1</a:t>
            </a:r>
          </a:p>
          <a:p>
            <a:r>
              <a:rPr lang="en-US" sz="1600" dirty="0"/>
              <a:t>Errors: 1</a:t>
            </a:r>
          </a:p>
        </p:txBody>
      </p:sp>
    </p:spTree>
    <p:extLst>
      <p:ext uri="{BB962C8B-B14F-4D97-AF65-F5344CB8AC3E}">
        <p14:creationId xmlns:p14="http://schemas.microsoft.com/office/powerpoint/2010/main" val="503684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13B067F-3154-4968-A886-DF93A787E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7583D6C-C05B-47AB-8540-B2700B82A4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501AD91-D973-4968-95E4-4C26CFDF8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C165989-F5FE-4BB6-9817-E7828CB1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B0649CC-B912-4E82-BEA0-DA75ECB19A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BA08C17-C9A5-4FA8-ABC4-44FB3B869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0DEAC6C-553C-437E-BC17-D4495233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8AC5BCF-ABA5-6A45-C354-C0ED94F83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5" y="4018137"/>
            <a:ext cx="5071221" cy="2129586"/>
          </a:xfrm>
          <a:noFill/>
        </p:spPr>
        <p:txBody>
          <a:bodyPr anchor="t">
            <a:normAutofit/>
          </a:bodyPr>
          <a:lstStyle/>
          <a:p>
            <a:r>
              <a:rPr lang="en-US" sz="4800">
                <a:solidFill>
                  <a:schemeClr val="bg1"/>
                </a:solidFill>
              </a:rPr>
              <a:t>Running the Evaluation: npm run evaluate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7628B1-0B9A-ED29-59A8-80F9EB4886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359" y="976343"/>
            <a:ext cx="10843065" cy="2548120"/>
          </a:xfrm>
          <a:prstGeom prst="rect">
            <a:avLst/>
          </a:prstGeom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1F4E1649-4D1F-4A91-AF97-A254BFDD52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776904"/>
            <a:ext cx="304800" cy="429768"/>
            <a:chOff x="215328" y="-46937"/>
            <a:chExt cx="304800" cy="2773841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E483602-62F9-474D-9C9B-5EE4CD767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DD7D1AC0-A6C7-40E3-9841-F34AC831A4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951C4DD-7427-497D-9DE3-9D731D3F4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EE18298-0BF5-4D7A-921A-2F4186E8D9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Oval 43">
            <a:extLst>
              <a:ext uri="{FF2B5EF4-FFF2-40B4-BE49-F238E27FC236}">
                <a16:creationId xmlns:a16="http://schemas.microsoft.com/office/drawing/2014/main" id="{773AEA78-C03B-40B7-9D11-DC022119D5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600000">
            <a:off x="10150845" y="4270841"/>
            <a:ext cx="1897885" cy="1897885"/>
          </a:xfrm>
          <a:prstGeom prst="ellipse">
            <a:avLst/>
          </a:prstGeom>
          <a:gradFill>
            <a:gsLst>
              <a:gs pos="0">
                <a:schemeClr val="tx2">
                  <a:lumMod val="75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1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B2C00-4C64-2F04-55CD-B08D0EBF4C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5304" y="4018143"/>
            <a:ext cx="5549111" cy="2129599"/>
          </a:xfrm>
          <a:noFill/>
        </p:spPr>
        <p:txBody>
          <a:bodyPr anchor="t">
            <a:normAutofit/>
          </a:bodyPr>
          <a:lstStyle/>
          <a:p>
            <a:r>
              <a:rPr lang="en-US" sz="1300">
                <a:solidFill>
                  <a:schemeClr val="bg1"/>
                </a:solidFill>
              </a:rPr>
              <a:t>The evaluation module analyzes the trace and checks:</a:t>
            </a:r>
          </a:p>
          <a:p>
            <a:r>
              <a:rPr lang="en-US" sz="1300">
                <a:solidFill>
                  <a:schemeClr val="bg1"/>
                </a:solidFill>
              </a:rPr>
              <a:t>step sequence correctness</a:t>
            </a:r>
          </a:p>
          <a:p>
            <a:r>
              <a:rPr lang="en-US" sz="1300">
                <a:solidFill>
                  <a:schemeClr val="bg1"/>
                </a:solidFill>
              </a:rPr>
              <a:t> tool usage accuracy</a:t>
            </a:r>
          </a:p>
          <a:p>
            <a:r>
              <a:rPr lang="en-US" sz="1300">
                <a:solidFill>
                  <a:schemeClr val="bg1"/>
                </a:solidFill>
              </a:rPr>
              <a:t> API parameter validity</a:t>
            </a:r>
          </a:p>
          <a:p>
            <a:r>
              <a:rPr lang="en-US" sz="1300">
                <a:solidFill>
                  <a:schemeClr val="bg1"/>
                </a:solidFill>
              </a:rPr>
              <a:t> schema validation</a:t>
            </a:r>
          </a:p>
          <a:p>
            <a:r>
              <a:rPr lang="en-US" sz="1300">
                <a:solidFill>
                  <a:schemeClr val="bg1"/>
                </a:solidFill>
              </a:rPr>
              <a:t> error interpretation</a:t>
            </a:r>
          </a:p>
          <a:p>
            <a:r>
              <a:rPr lang="en-US" sz="1300">
                <a:solidFill>
                  <a:schemeClr val="bg1"/>
                </a:solidFill>
              </a:rPr>
              <a:t> consistency between trace and final report</a:t>
            </a:r>
          </a:p>
          <a:p>
            <a:endParaRPr lang="en-US" sz="13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8078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029D5AD-8348-4446-B191-6A9B6FE03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Freeform: Shape 18">
            <a:extLst>
              <a:ext uri="{FF2B5EF4-FFF2-40B4-BE49-F238E27FC236}">
                <a16:creationId xmlns:a16="http://schemas.microsoft.com/office/drawing/2014/main" id="{A3F395A2-2B64-4749-BD93-2F159C7E1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1899601"/>
          </a:xfrm>
          <a:custGeom>
            <a:avLst/>
            <a:gdLst>
              <a:gd name="connsiteX0" fmla="*/ 0 w 12188952"/>
              <a:gd name="connsiteY0" fmla="*/ 0 h 1899601"/>
              <a:gd name="connsiteX1" fmla="*/ 12188952 w 12188952"/>
              <a:gd name="connsiteY1" fmla="*/ 0 h 1899601"/>
              <a:gd name="connsiteX2" fmla="*/ 12188952 w 12188952"/>
              <a:gd name="connsiteY2" fmla="*/ 1635106 h 1899601"/>
              <a:gd name="connsiteX3" fmla="*/ 11356325 w 12188952"/>
              <a:gd name="connsiteY3" fmla="*/ 1707615 h 1899601"/>
              <a:gd name="connsiteX4" fmla="*/ 6096001 w 12188952"/>
              <a:gd name="connsiteY4" fmla="*/ 1899601 h 1899601"/>
              <a:gd name="connsiteX5" fmla="*/ 835678 w 12188952"/>
              <a:gd name="connsiteY5" fmla="*/ 1707615 h 1899601"/>
              <a:gd name="connsiteX6" fmla="*/ 0 w 12188952"/>
              <a:gd name="connsiteY6" fmla="*/ 1634841 h 1899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88952" h="1899601">
                <a:moveTo>
                  <a:pt x="0" y="0"/>
                </a:moveTo>
                <a:lnTo>
                  <a:pt x="12188952" y="0"/>
                </a:lnTo>
                <a:lnTo>
                  <a:pt x="12188952" y="1635106"/>
                </a:lnTo>
                <a:lnTo>
                  <a:pt x="11356325" y="1707615"/>
                </a:lnTo>
                <a:cubicBezTo>
                  <a:pt x="9739512" y="1831240"/>
                  <a:pt x="7961919" y="1899601"/>
                  <a:pt x="6096001" y="1899601"/>
                </a:cubicBezTo>
                <a:cubicBezTo>
                  <a:pt x="4230084" y="1899601"/>
                  <a:pt x="2452490" y="1831240"/>
                  <a:pt x="835678" y="1707615"/>
                </a:cubicBezTo>
                <a:lnTo>
                  <a:pt x="0" y="1634841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1" name="Freeform: Shape 20">
            <a:extLst>
              <a:ext uri="{FF2B5EF4-FFF2-40B4-BE49-F238E27FC236}">
                <a16:creationId xmlns:a16="http://schemas.microsoft.com/office/drawing/2014/main" id="{5CF0135B-EAB8-4CA0-896C-2D897ECD2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890722"/>
          </a:xfrm>
          <a:custGeom>
            <a:avLst/>
            <a:gdLst>
              <a:gd name="connsiteX0" fmla="*/ 0 w 12192000"/>
              <a:gd name="connsiteY0" fmla="*/ 0 h 1890722"/>
              <a:gd name="connsiteX1" fmla="*/ 12192000 w 12192000"/>
              <a:gd name="connsiteY1" fmla="*/ 0 h 1890722"/>
              <a:gd name="connsiteX2" fmla="*/ 12192000 w 12192000"/>
              <a:gd name="connsiteY2" fmla="*/ 1626227 h 1890722"/>
              <a:gd name="connsiteX3" fmla="*/ 11359165 w 12192000"/>
              <a:gd name="connsiteY3" fmla="*/ 1698736 h 1890722"/>
              <a:gd name="connsiteX4" fmla="*/ 6097526 w 12192000"/>
              <a:gd name="connsiteY4" fmla="*/ 1890722 h 1890722"/>
              <a:gd name="connsiteX5" fmla="*/ 835887 w 12192000"/>
              <a:gd name="connsiteY5" fmla="*/ 1698736 h 1890722"/>
              <a:gd name="connsiteX6" fmla="*/ 0 w 12192000"/>
              <a:gd name="connsiteY6" fmla="*/ 1625962 h 1890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890722">
                <a:moveTo>
                  <a:pt x="0" y="0"/>
                </a:moveTo>
                <a:lnTo>
                  <a:pt x="12192000" y="0"/>
                </a:lnTo>
                <a:lnTo>
                  <a:pt x="12192000" y="1626227"/>
                </a:lnTo>
                <a:lnTo>
                  <a:pt x="11359165" y="1698736"/>
                </a:lnTo>
                <a:cubicBezTo>
                  <a:pt x="9741947" y="1822361"/>
                  <a:pt x="7963910" y="1890722"/>
                  <a:pt x="6097526" y="1890722"/>
                </a:cubicBezTo>
                <a:cubicBezTo>
                  <a:pt x="4231142" y="1890722"/>
                  <a:pt x="2453104" y="1822361"/>
                  <a:pt x="835887" y="1698736"/>
                </a:cubicBezTo>
                <a:lnTo>
                  <a:pt x="0" y="1625962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A53200-14A2-2915-131D-7523696B6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3397"/>
            <a:ext cx="10515600" cy="1273233"/>
          </a:xfrm>
        </p:spPr>
        <p:txBody>
          <a:bodyPr>
            <a:normAutofit/>
          </a:bodyPr>
          <a:lstStyle/>
          <a:p>
            <a:r>
              <a:rPr lang="en-US" sz="4000" dirty="0" err="1"/>
              <a:t>AgentEval</a:t>
            </a:r>
            <a:r>
              <a:rPr lang="en-US" sz="4000" dirty="0"/>
              <a:t>: Evaluating LLM-Powered Applications</a:t>
            </a:r>
            <a:br>
              <a:rPr lang="en-US" sz="4000" dirty="0"/>
            </a:br>
            <a:endParaRPr lang="en-US" sz="40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2C3387C-D24F-4737-8A37-1DC5CFF09C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2452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5027A-D73B-3A81-31E9-8AF5132D4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432" y="1890722"/>
            <a:ext cx="10734368" cy="4460483"/>
          </a:xfrm>
        </p:spPr>
        <p:txBody>
          <a:bodyPr>
            <a:normAutofit lnSpcReduction="10000"/>
          </a:bodyPr>
          <a:lstStyle/>
          <a:p>
            <a:r>
              <a:rPr lang="en-US" sz="3000" dirty="0"/>
              <a:t>After observing the behavior of AI agents in the demonstration, the next question is:</a:t>
            </a:r>
          </a:p>
          <a:p>
            <a:pPr marL="457200" lvl="1" indent="0">
              <a:buNone/>
            </a:pPr>
            <a:r>
              <a:rPr lang="en-US" sz="1800" dirty="0"/>
              <a:t>How can we systematically evaluate LLM-powered applications?</a:t>
            </a:r>
          </a:p>
          <a:p>
            <a:r>
              <a:rPr lang="en-US" dirty="0"/>
              <a:t>Microsoft Research introduced </a:t>
            </a:r>
            <a:r>
              <a:rPr lang="en-US" dirty="0" err="1"/>
              <a:t>AgentEval</a:t>
            </a:r>
            <a:r>
              <a:rPr lang="en-US" dirty="0"/>
              <a:t>, a framework designed to assess the utility of LLM-powered applications that assist users in completing tasks.</a:t>
            </a:r>
          </a:p>
          <a:p>
            <a:r>
              <a:rPr lang="en-US" dirty="0" err="1"/>
              <a:t>AgentEval</a:t>
            </a:r>
            <a:r>
              <a:rPr lang="en-US" dirty="0"/>
              <a:t> aims to simplify the evaluation process by:</a:t>
            </a:r>
          </a:p>
          <a:p>
            <a:pPr lvl="1"/>
            <a:r>
              <a:rPr lang="en-US" sz="2100" dirty="0"/>
              <a:t> </a:t>
            </a:r>
            <a:r>
              <a:rPr lang="en-US" sz="1800" dirty="0"/>
              <a:t>Automatically generating evaluation criteria</a:t>
            </a:r>
          </a:p>
          <a:p>
            <a:pPr lvl="1"/>
            <a:r>
              <a:rPr lang="en-US" sz="1800" dirty="0"/>
              <a:t> Measuring performance across these criteria</a:t>
            </a:r>
          </a:p>
          <a:p>
            <a:pPr lvl="1"/>
            <a:r>
              <a:rPr lang="en-US" sz="1800" dirty="0"/>
              <a:t>Enabling a comprehensive assessment of system utility</a:t>
            </a:r>
          </a:p>
          <a:p>
            <a:r>
              <a:rPr lang="en-US" dirty="0" err="1"/>
              <a:t>AgentEval</a:t>
            </a:r>
            <a:r>
              <a:rPr lang="en-US" dirty="0"/>
              <a:t> is implemented within the </a:t>
            </a:r>
            <a:r>
              <a:rPr lang="en-US" dirty="0" err="1"/>
              <a:t>AutoGen</a:t>
            </a:r>
            <a:r>
              <a:rPr lang="en-US" dirty="0"/>
              <a:t> framework.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5401870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029D5AD-8348-4446-B191-6A9B6FE03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Freeform: Shape 18">
            <a:extLst>
              <a:ext uri="{FF2B5EF4-FFF2-40B4-BE49-F238E27FC236}">
                <a16:creationId xmlns:a16="http://schemas.microsoft.com/office/drawing/2014/main" id="{A3F395A2-2B64-4749-BD93-2F159C7E1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1899601"/>
          </a:xfrm>
          <a:custGeom>
            <a:avLst/>
            <a:gdLst>
              <a:gd name="connsiteX0" fmla="*/ 0 w 12188952"/>
              <a:gd name="connsiteY0" fmla="*/ 0 h 1899601"/>
              <a:gd name="connsiteX1" fmla="*/ 12188952 w 12188952"/>
              <a:gd name="connsiteY1" fmla="*/ 0 h 1899601"/>
              <a:gd name="connsiteX2" fmla="*/ 12188952 w 12188952"/>
              <a:gd name="connsiteY2" fmla="*/ 1635106 h 1899601"/>
              <a:gd name="connsiteX3" fmla="*/ 11356325 w 12188952"/>
              <a:gd name="connsiteY3" fmla="*/ 1707615 h 1899601"/>
              <a:gd name="connsiteX4" fmla="*/ 6096001 w 12188952"/>
              <a:gd name="connsiteY4" fmla="*/ 1899601 h 1899601"/>
              <a:gd name="connsiteX5" fmla="*/ 835678 w 12188952"/>
              <a:gd name="connsiteY5" fmla="*/ 1707615 h 1899601"/>
              <a:gd name="connsiteX6" fmla="*/ 0 w 12188952"/>
              <a:gd name="connsiteY6" fmla="*/ 1634841 h 1899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88952" h="1899601">
                <a:moveTo>
                  <a:pt x="0" y="0"/>
                </a:moveTo>
                <a:lnTo>
                  <a:pt x="12188952" y="0"/>
                </a:lnTo>
                <a:lnTo>
                  <a:pt x="12188952" y="1635106"/>
                </a:lnTo>
                <a:lnTo>
                  <a:pt x="11356325" y="1707615"/>
                </a:lnTo>
                <a:cubicBezTo>
                  <a:pt x="9739512" y="1831240"/>
                  <a:pt x="7961919" y="1899601"/>
                  <a:pt x="6096001" y="1899601"/>
                </a:cubicBezTo>
                <a:cubicBezTo>
                  <a:pt x="4230084" y="1899601"/>
                  <a:pt x="2452490" y="1831240"/>
                  <a:pt x="835678" y="1707615"/>
                </a:cubicBezTo>
                <a:lnTo>
                  <a:pt x="0" y="1634841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1" name="Freeform: Shape 20">
            <a:extLst>
              <a:ext uri="{FF2B5EF4-FFF2-40B4-BE49-F238E27FC236}">
                <a16:creationId xmlns:a16="http://schemas.microsoft.com/office/drawing/2014/main" id="{5CF0135B-EAB8-4CA0-896C-2D897ECD2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890722"/>
          </a:xfrm>
          <a:custGeom>
            <a:avLst/>
            <a:gdLst>
              <a:gd name="connsiteX0" fmla="*/ 0 w 12192000"/>
              <a:gd name="connsiteY0" fmla="*/ 0 h 1890722"/>
              <a:gd name="connsiteX1" fmla="*/ 12192000 w 12192000"/>
              <a:gd name="connsiteY1" fmla="*/ 0 h 1890722"/>
              <a:gd name="connsiteX2" fmla="*/ 12192000 w 12192000"/>
              <a:gd name="connsiteY2" fmla="*/ 1626227 h 1890722"/>
              <a:gd name="connsiteX3" fmla="*/ 11359165 w 12192000"/>
              <a:gd name="connsiteY3" fmla="*/ 1698736 h 1890722"/>
              <a:gd name="connsiteX4" fmla="*/ 6097526 w 12192000"/>
              <a:gd name="connsiteY4" fmla="*/ 1890722 h 1890722"/>
              <a:gd name="connsiteX5" fmla="*/ 835887 w 12192000"/>
              <a:gd name="connsiteY5" fmla="*/ 1698736 h 1890722"/>
              <a:gd name="connsiteX6" fmla="*/ 0 w 12192000"/>
              <a:gd name="connsiteY6" fmla="*/ 1625962 h 1890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890722">
                <a:moveTo>
                  <a:pt x="0" y="0"/>
                </a:moveTo>
                <a:lnTo>
                  <a:pt x="12192000" y="0"/>
                </a:lnTo>
                <a:lnTo>
                  <a:pt x="12192000" y="1626227"/>
                </a:lnTo>
                <a:lnTo>
                  <a:pt x="11359165" y="1698736"/>
                </a:lnTo>
                <a:cubicBezTo>
                  <a:pt x="9741947" y="1822361"/>
                  <a:pt x="7963910" y="1890722"/>
                  <a:pt x="6097526" y="1890722"/>
                </a:cubicBezTo>
                <a:cubicBezTo>
                  <a:pt x="4231142" y="1890722"/>
                  <a:pt x="2453104" y="1822361"/>
                  <a:pt x="835887" y="1698736"/>
                </a:cubicBezTo>
                <a:lnTo>
                  <a:pt x="0" y="1625962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820F66-0C5D-9BCE-3FE7-81153FC46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3397"/>
            <a:ext cx="10515600" cy="1273233"/>
          </a:xfrm>
        </p:spPr>
        <p:txBody>
          <a:bodyPr>
            <a:normAutofit/>
          </a:bodyPr>
          <a:lstStyle/>
          <a:p>
            <a:r>
              <a:rPr lang="en-US" sz="4000"/>
              <a:t>Assessing Utility in LLM Applications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2C3387C-D24F-4737-8A37-1DC5CFF09C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2452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5010E-B834-686A-A639-FB3D2FAEF4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899601"/>
            <a:ext cx="10541000" cy="4856799"/>
          </a:xfrm>
        </p:spPr>
        <p:txBody>
          <a:bodyPr>
            <a:normAutofit fontScale="62500" lnSpcReduction="20000"/>
          </a:bodyPr>
          <a:lstStyle/>
          <a:p>
            <a:r>
              <a:rPr lang="en-US" sz="3300" dirty="0"/>
              <a:t>Developers building AI systems need to understand:</a:t>
            </a:r>
          </a:p>
          <a:p>
            <a:pPr lvl="1"/>
            <a:r>
              <a:rPr lang="en-US" sz="3700" dirty="0"/>
              <a:t>How well the system helps users complete tasks</a:t>
            </a:r>
          </a:p>
          <a:p>
            <a:pPr lvl="1"/>
            <a:r>
              <a:rPr lang="en-US" sz="3600" dirty="0"/>
              <a:t> What aspects of the system perform well</a:t>
            </a:r>
          </a:p>
          <a:p>
            <a:pPr lvl="1"/>
            <a:r>
              <a:rPr lang="en-US" sz="3600" dirty="0"/>
              <a:t> </a:t>
            </a:r>
            <a:r>
              <a:rPr lang="en-US" sz="3700" dirty="0"/>
              <a:t>what aspects require improvement</a:t>
            </a:r>
          </a:p>
          <a:p>
            <a:r>
              <a:rPr lang="en-US" sz="4000" dirty="0"/>
              <a:t>Traditional evaluation methods often rely on simple success metrics, such as whether the task was completed.</a:t>
            </a:r>
          </a:p>
          <a:p>
            <a:r>
              <a:rPr lang="en-US" sz="4000" dirty="0"/>
              <a:t>However, this approach is insufficient because:</a:t>
            </a:r>
          </a:p>
          <a:p>
            <a:pPr lvl="1"/>
            <a:r>
              <a:rPr lang="en-US" sz="1200" dirty="0"/>
              <a:t> </a:t>
            </a:r>
            <a:r>
              <a:rPr lang="en-US" sz="2900" dirty="0"/>
              <a:t>Success is not always clearly defined</a:t>
            </a:r>
          </a:p>
          <a:p>
            <a:pPr lvl="1"/>
            <a:r>
              <a:rPr lang="en-US" sz="2900" dirty="0"/>
              <a:t>Multiple valid solutions may exist</a:t>
            </a:r>
          </a:p>
          <a:p>
            <a:pPr lvl="1"/>
            <a:r>
              <a:rPr lang="en-US" sz="2900" dirty="0"/>
              <a:t> Explanation quality also matters</a:t>
            </a:r>
          </a:p>
          <a:p>
            <a:r>
              <a:rPr lang="en-US" sz="4000" dirty="0"/>
              <a:t>For example, when solving a math problem, evaluation should consider:</a:t>
            </a:r>
          </a:p>
          <a:p>
            <a:pPr marL="457200" lvl="1" indent="0">
              <a:buNone/>
            </a:pPr>
            <a:r>
              <a:rPr lang="en-US" sz="2900" dirty="0"/>
              <a:t>• Correctness of the solution</a:t>
            </a:r>
            <a:br>
              <a:rPr lang="en-US" sz="2900" dirty="0"/>
            </a:br>
            <a:r>
              <a:rPr lang="en-US" sz="2900" dirty="0"/>
              <a:t>• Clarity of the explanation</a:t>
            </a:r>
            <a:br>
              <a:rPr lang="en-US" sz="2900" dirty="0"/>
            </a:br>
            <a:r>
              <a:rPr lang="en-US" sz="2900" dirty="0"/>
              <a:t>• Concise reasoning</a:t>
            </a:r>
          </a:p>
          <a:p>
            <a:r>
              <a:rPr lang="en-US" sz="4000" dirty="0" err="1"/>
              <a:t>AgentEval</a:t>
            </a:r>
            <a:r>
              <a:rPr lang="en-US" sz="4000" dirty="0"/>
              <a:t> addresses this challenge by evaluating systems using </a:t>
            </a:r>
            <a:r>
              <a:rPr lang="en-US" sz="4000" b="1" dirty="0"/>
              <a:t>multiple criteria</a:t>
            </a:r>
            <a:r>
              <a:rPr lang="en-US" sz="4000" dirty="0"/>
              <a:t>.</a:t>
            </a: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0383883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84ECDE7A-6944-466D-8FFE-149A29BA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3420082-9415-44EC-802E-C77D71D59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55A52C45-1FCB-4636-A80F-2849B8226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EDFBA8-80C2-8785-92A4-8A82C6604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4000"/>
              <a:t>Task Taxonomy in LLM Applications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68EB4DD-3704-43AD-92B3-C4E0C6EA9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7079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9CE9D3-F406-76D3-1DAC-7C94646A52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9" r="2425" b="2"/>
          <a:stretch>
            <a:fillRect/>
          </a:stretch>
        </p:blipFill>
        <p:spPr>
          <a:xfrm>
            <a:off x="1660144" y="2123440"/>
            <a:ext cx="7961376" cy="4352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2680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2029D5AD-8348-4446-B191-6A9B6FE03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5" name="Freeform: Shape 24">
            <a:extLst>
              <a:ext uri="{FF2B5EF4-FFF2-40B4-BE49-F238E27FC236}">
                <a16:creationId xmlns:a16="http://schemas.microsoft.com/office/drawing/2014/main" id="{A3F395A2-2B64-4749-BD93-2F159C7E1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1899601"/>
          </a:xfrm>
          <a:custGeom>
            <a:avLst/>
            <a:gdLst>
              <a:gd name="connsiteX0" fmla="*/ 0 w 12188952"/>
              <a:gd name="connsiteY0" fmla="*/ 0 h 1899601"/>
              <a:gd name="connsiteX1" fmla="*/ 12188952 w 12188952"/>
              <a:gd name="connsiteY1" fmla="*/ 0 h 1899601"/>
              <a:gd name="connsiteX2" fmla="*/ 12188952 w 12188952"/>
              <a:gd name="connsiteY2" fmla="*/ 1635106 h 1899601"/>
              <a:gd name="connsiteX3" fmla="*/ 11356325 w 12188952"/>
              <a:gd name="connsiteY3" fmla="*/ 1707615 h 1899601"/>
              <a:gd name="connsiteX4" fmla="*/ 6096001 w 12188952"/>
              <a:gd name="connsiteY4" fmla="*/ 1899601 h 1899601"/>
              <a:gd name="connsiteX5" fmla="*/ 835678 w 12188952"/>
              <a:gd name="connsiteY5" fmla="*/ 1707615 h 1899601"/>
              <a:gd name="connsiteX6" fmla="*/ 0 w 12188952"/>
              <a:gd name="connsiteY6" fmla="*/ 1634841 h 1899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88952" h="1899601">
                <a:moveTo>
                  <a:pt x="0" y="0"/>
                </a:moveTo>
                <a:lnTo>
                  <a:pt x="12188952" y="0"/>
                </a:lnTo>
                <a:lnTo>
                  <a:pt x="12188952" y="1635106"/>
                </a:lnTo>
                <a:lnTo>
                  <a:pt x="11356325" y="1707615"/>
                </a:lnTo>
                <a:cubicBezTo>
                  <a:pt x="9739512" y="1831240"/>
                  <a:pt x="7961919" y="1899601"/>
                  <a:pt x="6096001" y="1899601"/>
                </a:cubicBezTo>
                <a:cubicBezTo>
                  <a:pt x="4230084" y="1899601"/>
                  <a:pt x="2452490" y="1831240"/>
                  <a:pt x="835678" y="1707615"/>
                </a:cubicBezTo>
                <a:lnTo>
                  <a:pt x="0" y="1634841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6" name="Freeform: Shape 25">
            <a:extLst>
              <a:ext uri="{FF2B5EF4-FFF2-40B4-BE49-F238E27FC236}">
                <a16:creationId xmlns:a16="http://schemas.microsoft.com/office/drawing/2014/main" id="{5CF0135B-EAB8-4CA0-896C-2D897ECD2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890722"/>
          </a:xfrm>
          <a:custGeom>
            <a:avLst/>
            <a:gdLst>
              <a:gd name="connsiteX0" fmla="*/ 0 w 12192000"/>
              <a:gd name="connsiteY0" fmla="*/ 0 h 1890722"/>
              <a:gd name="connsiteX1" fmla="*/ 12192000 w 12192000"/>
              <a:gd name="connsiteY1" fmla="*/ 0 h 1890722"/>
              <a:gd name="connsiteX2" fmla="*/ 12192000 w 12192000"/>
              <a:gd name="connsiteY2" fmla="*/ 1626227 h 1890722"/>
              <a:gd name="connsiteX3" fmla="*/ 11359165 w 12192000"/>
              <a:gd name="connsiteY3" fmla="*/ 1698736 h 1890722"/>
              <a:gd name="connsiteX4" fmla="*/ 6097526 w 12192000"/>
              <a:gd name="connsiteY4" fmla="*/ 1890722 h 1890722"/>
              <a:gd name="connsiteX5" fmla="*/ 835887 w 12192000"/>
              <a:gd name="connsiteY5" fmla="*/ 1698736 h 1890722"/>
              <a:gd name="connsiteX6" fmla="*/ 0 w 12192000"/>
              <a:gd name="connsiteY6" fmla="*/ 1625962 h 1890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890722">
                <a:moveTo>
                  <a:pt x="0" y="0"/>
                </a:moveTo>
                <a:lnTo>
                  <a:pt x="12192000" y="0"/>
                </a:lnTo>
                <a:lnTo>
                  <a:pt x="12192000" y="1626227"/>
                </a:lnTo>
                <a:lnTo>
                  <a:pt x="11359165" y="1698736"/>
                </a:lnTo>
                <a:cubicBezTo>
                  <a:pt x="9741947" y="1822361"/>
                  <a:pt x="7963910" y="1890722"/>
                  <a:pt x="6097526" y="1890722"/>
                </a:cubicBezTo>
                <a:cubicBezTo>
                  <a:pt x="4231142" y="1890722"/>
                  <a:pt x="2453104" y="1822361"/>
                  <a:pt x="835887" y="1698736"/>
                </a:cubicBezTo>
                <a:lnTo>
                  <a:pt x="0" y="1625962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3AADA0-85FF-883A-6951-D8B591E4C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3397"/>
            <a:ext cx="10515600" cy="1273233"/>
          </a:xfrm>
        </p:spPr>
        <p:txBody>
          <a:bodyPr>
            <a:normAutofit/>
          </a:bodyPr>
          <a:lstStyle/>
          <a:p>
            <a:r>
              <a:rPr lang="en-US" sz="4000"/>
              <a:t>AgentEval Framework Overview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2C3387C-D24F-4737-8A37-1DC5CFF09C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2452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64A95-7FCF-2C31-A39E-82C18A4412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4119"/>
            <a:ext cx="10515600" cy="4378601"/>
          </a:xfrm>
        </p:spPr>
        <p:txBody>
          <a:bodyPr>
            <a:normAutofit/>
          </a:bodyPr>
          <a:lstStyle/>
          <a:p>
            <a:r>
              <a:rPr lang="en-US" dirty="0" err="1"/>
              <a:t>AgentEval</a:t>
            </a:r>
            <a:r>
              <a:rPr lang="en-US" dirty="0"/>
              <a:t> evaluates LLM-powered applications using three agents. Each agent performs a different role in the evaluation process.</a:t>
            </a:r>
          </a:p>
          <a:p>
            <a:r>
              <a:rPr lang="en-US" dirty="0" err="1"/>
              <a:t>CriticAgent</a:t>
            </a:r>
            <a:endParaRPr lang="en-US" dirty="0"/>
          </a:p>
          <a:p>
            <a:pPr marL="457200" lvl="1" indent="0">
              <a:buNone/>
            </a:pPr>
            <a:r>
              <a:rPr lang="en-US" sz="1600" dirty="0"/>
              <a:t>Generates evaluation criteria.</a:t>
            </a:r>
          </a:p>
          <a:p>
            <a:r>
              <a:rPr lang="en-US" sz="2000" dirty="0" err="1"/>
              <a:t>QuantifierAgent</a:t>
            </a:r>
            <a:endParaRPr lang="en-US" sz="2000" dirty="0"/>
          </a:p>
          <a:p>
            <a:pPr marL="457200" lvl="1" indent="0">
              <a:buNone/>
            </a:pPr>
            <a:r>
              <a:rPr lang="en-US" sz="1600" dirty="0"/>
              <a:t>Measures how well the system satisfies those criteria.</a:t>
            </a:r>
          </a:p>
          <a:p>
            <a:r>
              <a:rPr lang="en-US" sz="2000" dirty="0" err="1"/>
              <a:t>VerifierAgent</a:t>
            </a:r>
            <a:endParaRPr lang="en-US" sz="2000" dirty="0"/>
          </a:p>
          <a:p>
            <a:pPr marL="457200" lvl="1" indent="0">
              <a:buNone/>
            </a:pPr>
            <a:r>
              <a:rPr lang="en-US" sz="1600" dirty="0"/>
              <a:t>Ensures the evaluation process is robust and meaningful.</a:t>
            </a:r>
          </a:p>
          <a:p>
            <a:r>
              <a:rPr lang="en-US" dirty="0"/>
              <a:t>Together, these agents produce a multi-dimensional evaluation of system utility.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701320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68AF5748-FED8-45BA-8631-26D1D10F3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DF4916-AFF3-85A2-46B3-9537A5E11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AgentEval Framework 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FE4D63E-F638-D61C-2F87-21BBDADE5D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59753" y="625683"/>
            <a:ext cx="6456072" cy="5455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84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859D80-E457-079B-357D-798E02570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3700" b="1"/>
              <a:t>CriticAgent: Generating Evaluation Criteria</a:t>
            </a:r>
            <a:br>
              <a:rPr lang="en-US" sz="3700" b="1"/>
            </a:br>
            <a:endParaRPr lang="en-US" sz="370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B17C4-CA55-CFC3-02A5-F4DC328E4C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2"/>
            <a:ext cx="10168128" cy="4132217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The </a:t>
            </a:r>
            <a:r>
              <a:rPr lang="en-US" sz="2400" b="1" dirty="0" err="1"/>
              <a:t>CriticAgent</a:t>
            </a:r>
            <a:r>
              <a:rPr lang="en-US" sz="2400" dirty="0"/>
              <a:t> analyzes the task and generates evaluation criteria.</a:t>
            </a:r>
          </a:p>
          <a:p>
            <a:r>
              <a:rPr lang="en-US" sz="2400" dirty="0"/>
              <a:t>Inputs include:</a:t>
            </a:r>
          </a:p>
          <a:p>
            <a:pPr lvl="1"/>
            <a:r>
              <a:rPr lang="en-US" sz="1800" dirty="0"/>
              <a:t>task description</a:t>
            </a:r>
          </a:p>
          <a:p>
            <a:pPr lvl="1"/>
            <a:r>
              <a:rPr lang="en-US" sz="1800" dirty="0"/>
              <a:t>successful example responses</a:t>
            </a:r>
          </a:p>
          <a:p>
            <a:pPr lvl="1"/>
            <a:r>
              <a:rPr lang="en-US" sz="1800" dirty="0"/>
              <a:t>failed example responses</a:t>
            </a:r>
          </a:p>
          <a:p>
            <a:r>
              <a:rPr lang="en-US" sz="2400" dirty="0"/>
              <a:t>Using these inputs, </a:t>
            </a:r>
            <a:r>
              <a:rPr lang="en-US" sz="2400" dirty="0" err="1"/>
              <a:t>CriticAgent</a:t>
            </a:r>
            <a:r>
              <a:rPr lang="en-US" sz="2400" dirty="0"/>
              <a:t> identifies important dimensions of system performance.</a:t>
            </a:r>
          </a:p>
          <a:p>
            <a:r>
              <a:rPr lang="en-US" sz="2400" dirty="0"/>
              <a:t>For example, in a math tutoring application, the </a:t>
            </a:r>
            <a:r>
              <a:rPr lang="en-US" sz="2400" dirty="0" err="1"/>
              <a:t>CriticAgent</a:t>
            </a:r>
            <a:r>
              <a:rPr lang="en-US" sz="2400" dirty="0"/>
              <a:t> might generate criteria such as:</a:t>
            </a:r>
          </a:p>
          <a:p>
            <a:pPr marL="457200" lvl="1" indent="0">
              <a:buNone/>
            </a:pPr>
            <a:r>
              <a:rPr lang="en-US" sz="2200" dirty="0"/>
              <a:t>Accuracy</a:t>
            </a:r>
            <a:br>
              <a:rPr lang="en-US" sz="2200" dirty="0"/>
            </a:br>
            <a:r>
              <a:rPr lang="en-US" sz="2200" dirty="0"/>
              <a:t>Conciseness</a:t>
            </a:r>
            <a:br>
              <a:rPr lang="en-US" sz="2200" dirty="0"/>
            </a:br>
            <a:r>
              <a:rPr lang="en-US" sz="2200" dirty="0"/>
              <a:t>Relevance</a:t>
            </a:r>
          </a:p>
          <a:p>
            <a:r>
              <a:rPr lang="en-US" sz="1700" dirty="0"/>
              <a:t>Developers are encouraged to review these criteria using </a:t>
            </a:r>
            <a:r>
              <a:rPr lang="en-US" sz="1700" b="1" dirty="0"/>
              <a:t>domain knowledge</a:t>
            </a:r>
            <a:r>
              <a:rPr lang="en-US" sz="1700" dirty="0"/>
              <a:t>.</a:t>
            </a:r>
          </a:p>
          <a:p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12036566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1002C1-7DDF-2E48-C634-8F002CE0E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4000"/>
              <a:t>Structure of Generated Criteria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19067-A81E-CA8A-62D4-EB19ED194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103120"/>
            <a:ext cx="10168128" cy="4612639"/>
          </a:xfrm>
        </p:spPr>
        <p:txBody>
          <a:bodyPr>
            <a:normAutofit fontScale="32500" lnSpcReduction="20000"/>
          </a:bodyPr>
          <a:lstStyle/>
          <a:p>
            <a:r>
              <a:rPr lang="en-US" sz="8600" dirty="0"/>
              <a:t>Each criterion generated by </a:t>
            </a:r>
            <a:r>
              <a:rPr lang="en-US" sz="8600" dirty="0" err="1"/>
              <a:t>CriticAgent</a:t>
            </a:r>
            <a:r>
              <a:rPr lang="en-US" sz="8600" dirty="0"/>
              <a:t> has three components.</a:t>
            </a:r>
          </a:p>
          <a:p>
            <a:pPr lvl="1">
              <a:buFont typeface="+mj-lt"/>
              <a:buAutoNum type="arabicPeriod"/>
            </a:pPr>
            <a:r>
              <a:rPr lang="en-US" sz="5500" b="1" dirty="0"/>
              <a:t>Name</a:t>
            </a:r>
            <a:endParaRPr lang="en-US" sz="5500" dirty="0"/>
          </a:p>
          <a:p>
            <a:pPr marL="914400" lvl="2" indent="0">
              <a:buNone/>
            </a:pPr>
            <a:r>
              <a:rPr lang="en-US" sz="5500" dirty="0"/>
              <a:t>The evaluation dimension.</a:t>
            </a:r>
          </a:p>
          <a:p>
            <a:pPr lvl="1">
              <a:buFont typeface="+mj-lt"/>
              <a:buAutoNum type="arabicPeriod"/>
            </a:pPr>
            <a:r>
              <a:rPr lang="en-US" sz="5500" b="1" dirty="0"/>
              <a:t>Description</a:t>
            </a:r>
            <a:endParaRPr lang="en-US" sz="5500" dirty="0"/>
          </a:p>
          <a:p>
            <a:pPr marL="914400" lvl="2" indent="0">
              <a:buNone/>
            </a:pPr>
            <a:r>
              <a:rPr lang="en-US" sz="5500" dirty="0"/>
              <a:t>Explanation of what the criterion measures.</a:t>
            </a:r>
          </a:p>
          <a:p>
            <a:pPr lvl="1">
              <a:buFont typeface="+mj-lt"/>
              <a:buAutoNum type="arabicPeriod"/>
            </a:pPr>
            <a:r>
              <a:rPr lang="en-US" sz="5500" b="1" dirty="0"/>
              <a:t>Accepted Values</a:t>
            </a:r>
            <a:endParaRPr lang="en-US" sz="5500" dirty="0"/>
          </a:p>
          <a:p>
            <a:pPr marL="914400" lvl="2" indent="0">
              <a:buNone/>
            </a:pPr>
            <a:r>
              <a:rPr lang="en-US" sz="5500" dirty="0"/>
              <a:t>Possible evaluation scores.</a:t>
            </a:r>
          </a:p>
          <a:p>
            <a:pPr marL="0" indent="0">
              <a:buNone/>
            </a:pPr>
            <a:r>
              <a:rPr lang="en-US" sz="5500" dirty="0"/>
              <a:t>Example:</a:t>
            </a:r>
          </a:p>
          <a:p>
            <a:r>
              <a:rPr lang="en-US" sz="5500" dirty="0"/>
              <a:t>Criterion: Accuracy</a:t>
            </a:r>
          </a:p>
          <a:p>
            <a:r>
              <a:rPr lang="en-US" sz="5500" dirty="0"/>
              <a:t>Accepted values:</a:t>
            </a:r>
          </a:p>
          <a:p>
            <a:pPr lvl="1"/>
            <a:r>
              <a:rPr lang="en-US" sz="5500" dirty="0"/>
              <a:t>Correct</a:t>
            </a:r>
          </a:p>
          <a:p>
            <a:pPr lvl="1"/>
            <a:r>
              <a:rPr lang="en-US" sz="5500" dirty="0"/>
              <a:t>Minor errors</a:t>
            </a:r>
          </a:p>
          <a:p>
            <a:pPr lvl="1"/>
            <a:r>
              <a:rPr lang="en-US" sz="5500" dirty="0"/>
              <a:t>Major errors</a:t>
            </a:r>
          </a:p>
          <a:p>
            <a:pPr lvl="1"/>
            <a:r>
              <a:rPr lang="en-US" sz="5500" dirty="0"/>
              <a:t> Incorrect</a:t>
            </a:r>
          </a:p>
          <a:p>
            <a:r>
              <a:rPr lang="en-US" sz="7400" dirty="0"/>
              <a:t>This structured format allows subjective judgments to be transformed into measurable evaluation metrics.</a:t>
            </a:r>
          </a:p>
          <a:p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0392187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BB2DDC-1499-FDA3-DE0C-342185914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4000"/>
              <a:t>QuantifierAgent: Evaluating Performance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1A5D1-9889-12F8-9317-431ECB457B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2"/>
            <a:ext cx="10168128" cy="4071257"/>
          </a:xfrm>
        </p:spPr>
        <p:txBody>
          <a:bodyPr>
            <a:normAutofit fontScale="92500"/>
          </a:bodyPr>
          <a:lstStyle/>
          <a:p>
            <a:r>
              <a:rPr lang="en-US" sz="2400" dirty="0"/>
              <a:t>After the criteria are generated, the </a:t>
            </a:r>
            <a:r>
              <a:rPr lang="en-US" sz="2400" dirty="0" err="1"/>
              <a:t>QuantifierAgent</a:t>
            </a:r>
            <a:r>
              <a:rPr lang="en-US" sz="2400" dirty="0"/>
              <a:t> evaluates the system output.</a:t>
            </a:r>
          </a:p>
          <a:p>
            <a:r>
              <a:rPr lang="en-US" sz="1800" dirty="0"/>
              <a:t>Inputs</a:t>
            </a:r>
            <a:r>
              <a:rPr lang="en-US" sz="1500" dirty="0"/>
              <a:t>:</a:t>
            </a:r>
          </a:p>
          <a:p>
            <a:pPr lvl="1"/>
            <a:r>
              <a:rPr lang="en-US" sz="1800" dirty="0"/>
              <a:t>list of evaluation criteria</a:t>
            </a:r>
          </a:p>
          <a:p>
            <a:pPr lvl="1"/>
            <a:r>
              <a:rPr lang="en-US" sz="1800" dirty="0"/>
              <a:t>Task description</a:t>
            </a:r>
          </a:p>
          <a:p>
            <a:pPr lvl="1"/>
            <a:r>
              <a:rPr lang="en-US" sz="1800" dirty="0"/>
              <a:t>Execution trace or conversation</a:t>
            </a:r>
          </a:p>
          <a:p>
            <a:pPr lvl="1"/>
            <a:r>
              <a:rPr lang="en-US" sz="1800" dirty="0"/>
              <a:t>Ground truth information</a:t>
            </a:r>
          </a:p>
          <a:p>
            <a:r>
              <a:rPr lang="en-US" sz="2400" dirty="0"/>
              <a:t>The </a:t>
            </a:r>
            <a:r>
              <a:rPr lang="en-US" sz="2400" dirty="0" err="1"/>
              <a:t>QuantifierAgent</a:t>
            </a:r>
            <a:r>
              <a:rPr lang="en-US" sz="2400" dirty="0"/>
              <a:t> assigns values to each criterion.</a:t>
            </a:r>
          </a:p>
          <a:p>
            <a:r>
              <a:rPr lang="en-US" sz="1500" dirty="0"/>
              <a:t>Example:</a:t>
            </a:r>
          </a:p>
          <a:p>
            <a:pPr marL="457200" lvl="1" indent="0">
              <a:buNone/>
            </a:pPr>
            <a:r>
              <a:rPr lang="en-US" sz="1900" dirty="0"/>
              <a:t>Accuracy → Correct</a:t>
            </a:r>
            <a:br>
              <a:rPr lang="en-US" sz="1900" dirty="0"/>
            </a:br>
            <a:r>
              <a:rPr lang="en-US" sz="1900" dirty="0"/>
              <a:t>Conciseness → Concise</a:t>
            </a:r>
            <a:br>
              <a:rPr lang="en-US" sz="1900" dirty="0"/>
            </a:br>
            <a:r>
              <a:rPr lang="en-US" sz="1900" dirty="0"/>
              <a:t>Relevance → Highly relevant</a:t>
            </a:r>
          </a:p>
          <a:p>
            <a:r>
              <a:rPr lang="en-US" sz="2600" dirty="0"/>
              <a:t>This produces a multi-dimensional performance assessment.</a:t>
            </a:r>
          </a:p>
          <a:p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8971756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70DAA1-3185-4381-10FE-17F5EDAC0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3700" b="1"/>
              <a:t>Example Quantification Output</a:t>
            </a:r>
            <a:br>
              <a:rPr lang="en-US" sz="3700" b="1"/>
            </a:br>
            <a:endParaRPr lang="en-US" sz="37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F36682-8DF4-5401-1B49-3305CCA604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r>
              <a:rPr lang="en-US" sz="2000" dirty="0"/>
              <a:t>The output of the </a:t>
            </a:r>
            <a:r>
              <a:rPr lang="en-US" sz="2000" dirty="0" err="1"/>
              <a:t>QuantifierAgent</a:t>
            </a:r>
            <a:r>
              <a:rPr lang="en-US" sz="2000" dirty="0"/>
              <a:t> includes: </a:t>
            </a:r>
          </a:p>
          <a:p>
            <a:pPr lvl="1"/>
            <a:r>
              <a:rPr lang="en-US" sz="2000" dirty="0"/>
              <a:t>The actual success status of the task</a:t>
            </a:r>
          </a:p>
          <a:p>
            <a:pPr lvl="1"/>
            <a:r>
              <a:rPr lang="en-US" sz="2000" dirty="0"/>
              <a:t>Estimated performance across each criterion</a:t>
            </a:r>
          </a:p>
          <a:p>
            <a:r>
              <a:rPr lang="en-US" sz="2000" dirty="0"/>
              <a:t>Example output:</a:t>
            </a:r>
          </a:p>
          <a:p>
            <a:pPr lvl="1"/>
            <a:r>
              <a:rPr lang="en-US" sz="2000" dirty="0"/>
              <a:t>Actual Success: True</a:t>
            </a:r>
          </a:p>
          <a:p>
            <a:pPr lvl="1"/>
            <a:r>
              <a:rPr lang="en-US" sz="2000" dirty="0"/>
              <a:t>Estimated Performance:</a:t>
            </a:r>
          </a:p>
          <a:p>
            <a:pPr marL="914400" lvl="2" indent="0">
              <a:buNone/>
            </a:pPr>
            <a:r>
              <a:rPr lang="en-US" dirty="0"/>
              <a:t>Accuracy → Correct</a:t>
            </a:r>
            <a:br>
              <a:rPr lang="en-US" dirty="0"/>
            </a:br>
            <a:r>
              <a:rPr lang="en-US" dirty="0"/>
              <a:t>Conciseness → Concise</a:t>
            </a:r>
            <a:br>
              <a:rPr lang="en-US" dirty="0"/>
            </a:br>
            <a:r>
              <a:rPr lang="en-US" dirty="0"/>
              <a:t>Relevance → Highly relevant</a:t>
            </a:r>
          </a:p>
          <a:p>
            <a:r>
              <a:rPr lang="en-US" sz="2000" dirty="0"/>
              <a:t>This allows developers to understand </a:t>
            </a:r>
            <a:r>
              <a:rPr lang="en-US" sz="2000" b="1" dirty="0"/>
              <a:t>both overall success and quality of the solution</a:t>
            </a:r>
            <a:r>
              <a:rPr lang="en-US" sz="2000" dirty="0"/>
              <a:t>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062803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C8E4A4-960B-A0E7-CA03-1DCA33616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4000"/>
              <a:t>VerifierAgent: Ensuring Reliable Evaluation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7BED1F-A3A9-1E49-3260-E939814D25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r>
              <a:rPr lang="en-US" sz="2200"/>
              <a:t>The </a:t>
            </a:r>
            <a:r>
              <a:rPr lang="en-US" sz="2200" b="1"/>
              <a:t>VerifierAgent</a:t>
            </a:r>
            <a:r>
              <a:rPr lang="en-US" sz="2200"/>
              <a:t> improves the reliability of the evaluation process.</a:t>
            </a:r>
          </a:p>
          <a:p>
            <a:r>
              <a:rPr lang="en-US" sz="2200"/>
              <a:t>Its role is to ensure that evaluation criteria remain:</a:t>
            </a:r>
          </a:p>
          <a:p>
            <a:pPr lvl="1"/>
            <a:r>
              <a:rPr lang="en-US" sz="2200"/>
              <a:t>Robust</a:t>
            </a:r>
          </a:p>
          <a:p>
            <a:pPr lvl="1"/>
            <a:r>
              <a:rPr lang="en-US" sz="2200"/>
              <a:t>Meaningful</a:t>
            </a:r>
          </a:p>
          <a:p>
            <a:pPr lvl="1"/>
            <a:r>
              <a:rPr lang="en-US" sz="2200"/>
              <a:t>relevant to end users</a:t>
            </a:r>
          </a:p>
          <a:p>
            <a:r>
              <a:rPr lang="en-US" sz="2200"/>
              <a:t>VerifierAgent performs two major checks:</a:t>
            </a:r>
          </a:p>
          <a:p>
            <a:pPr lvl="1"/>
            <a:r>
              <a:rPr lang="en-US" sz="2200" b="1"/>
              <a:t>Criteria Stability</a:t>
            </a:r>
          </a:p>
          <a:p>
            <a:pPr lvl="1"/>
            <a:r>
              <a:rPr lang="en-US" sz="2200" b="1"/>
              <a:t>Discriminative Power</a:t>
            </a:r>
            <a:endParaRPr lang="en-US" sz="2200"/>
          </a:p>
          <a:p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33823983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9549E6-8132-F45C-91F0-F4BC3A3CD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4000"/>
              <a:t>Criteria Stability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8A8BD-F304-1D7A-C225-23C28A1B7E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r>
              <a:rPr lang="en-US" sz="2200" dirty="0" err="1"/>
              <a:t>VerifierAgent</a:t>
            </a:r>
            <a:r>
              <a:rPr lang="en-US" sz="2200" dirty="0"/>
              <a:t> evaluates whether the generated criteria are:</a:t>
            </a:r>
          </a:p>
          <a:p>
            <a:pPr lvl="1"/>
            <a:r>
              <a:rPr lang="en-US" sz="2200" dirty="0"/>
              <a:t>Essential for evaluating the task</a:t>
            </a:r>
          </a:p>
          <a:p>
            <a:pPr lvl="1"/>
            <a:r>
              <a:rPr lang="en-US" sz="2200" dirty="0"/>
              <a:t>Non-redundant</a:t>
            </a:r>
          </a:p>
          <a:p>
            <a:pPr lvl="1"/>
            <a:r>
              <a:rPr lang="en-US" sz="2200" dirty="0"/>
              <a:t>Consistently measurable</a:t>
            </a:r>
          </a:p>
          <a:p>
            <a:r>
              <a:rPr lang="en-US" sz="2200" dirty="0"/>
              <a:t>If some criteria overlap or are unnecessary, they are removed.</a:t>
            </a:r>
          </a:p>
          <a:p>
            <a:r>
              <a:rPr lang="en-US" sz="2200" dirty="0"/>
              <a:t>The goal is to retain only </a:t>
            </a:r>
            <a:r>
              <a:rPr lang="en-US" sz="2200" b="1" dirty="0"/>
              <a:t>robust evaluation criteria</a:t>
            </a:r>
            <a:r>
              <a:rPr lang="en-US" sz="2200" dirty="0"/>
              <a:t>.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5155962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82C8B7-FAE5-6842-007B-BEC92489A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4000"/>
              <a:t>Discriminative Power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82CEC0-1267-B157-2152-788925162A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r>
              <a:rPr lang="en-US" sz="2200" dirty="0" err="1"/>
              <a:t>VerifierAgent</a:t>
            </a:r>
            <a:r>
              <a:rPr lang="en-US" sz="2200" dirty="0"/>
              <a:t> also tests whether the criteria can distinguish between </a:t>
            </a:r>
            <a:r>
              <a:rPr lang="en-US" sz="2200" b="1" dirty="0"/>
              <a:t>good and poor system behavior</a:t>
            </a:r>
            <a:r>
              <a:rPr lang="en-US" sz="2200" dirty="0"/>
              <a:t>.</a:t>
            </a:r>
          </a:p>
          <a:p>
            <a:r>
              <a:rPr lang="en-US" sz="2200" dirty="0"/>
              <a:t>This is done by introducing </a:t>
            </a:r>
            <a:r>
              <a:rPr lang="en-US" sz="2200" b="1" dirty="0"/>
              <a:t>adversarial examples</a:t>
            </a:r>
            <a:r>
              <a:rPr lang="en-US" sz="2200" dirty="0"/>
              <a:t>, such as:</a:t>
            </a:r>
          </a:p>
          <a:p>
            <a:pPr lvl="1"/>
            <a:r>
              <a:rPr lang="en-US" sz="2200" dirty="0"/>
              <a:t>Noisy or corrupted inputs</a:t>
            </a:r>
          </a:p>
          <a:p>
            <a:pPr lvl="1"/>
            <a:r>
              <a:rPr lang="en-US" sz="2200" dirty="0"/>
              <a:t>Compromised data</a:t>
            </a:r>
          </a:p>
          <a:p>
            <a:pPr lvl="1"/>
            <a:r>
              <a:rPr lang="en-US" sz="2200" dirty="0"/>
              <a:t>Misleading responses</a:t>
            </a:r>
          </a:p>
          <a:p>
            <a:r>
              <a:rPr lang="en-US" sz="2200" dirty="0"/>
              <a:t>If the evaluation framework fails to detect these cases, the criteria must be refined.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6861625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BE8338-FC01-99CE-E0E2-595A694E3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4000"/>
              <a:t>Flexibility of AgentEval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73B9CC-1E94-7880-0411-4CE821DF7B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r>
              <a:rPr lang="en-US" sz="2200" dirty="0" err="1"/>
              <a:t>AgentEval</a:t>
            </a:r>
            <a:r>
              <a:rPr lang="en-US" sz="2200" dirty="0"/>
              <a:t> is designed to work with </a:t>
            </a:r>
            <a:r>
              <a:rPr lang="en-US" sz="2200" b="1" dirty="0"/>
              <a:t>many types of tasks</a:t>
            </a:r>
            <a:r>
              <a:rPr lang="en-US" sz="2200" dirty="0"/>
              <a:t>.</a:t>
            </a:r>
          </a:p>
          <a:p>
            <a:r>
              <a:rPr lang="en-US" sz="2200" dirty="0"/>
              <a:t>Examples include:</a:t>
            </a:r>
          </a:p>
          <a:p>
            <a:pPr lvl="1"/>
            <a:r>
              <a:rPr lang="en-US" sz="2200" dirty="0"/>
              <a:t>Solving math problems</a:t>
            </a:r>
          </a:p>
          <a:p>
            <a:pPr lvl="1"/>
            <a:r>
              <a:rPr lang="en-US" sz="2200" dirty="0"/>
              <a:t>Performing household tasks in simulated environments</a:t>
            </a:r>
          </a:p>
          <a:p>
            <a:pPr lvl="1"/>
            <a:r>
              <a:rPr lang="en-US" sz="2200" dirty="0"/>
              <a:t>Generating text or suggestions</a:t>
            </a:r>
          </a:p>
          <a:p>
            <a:pPr lvl="1"/>
            <a:r>
              <a:rPr lang="en-US" sz="2200" dirty="0"/>
              <a:t>Assisting users with complex workflows</a:t>
            </a:r>
          </a:p>
          <a:p>
            <a:r>
              <a:rPr lang="en-US" sz="2200" dirty="0"/>
              <a:t>The framework supports both:</a:t>
            </a:r>
          </a:p>
          <a:p>
            <a:pPr lvl="1"/>
            <a:r>
              <a:rPr lang="en-US" sz="2200" dirty="0"/>
              <a:t>Tasks with </a:t>
            </a:r>
            <a:r>
              <a:rPr lang="en-US" sz="2200" b="1" dirty="0"/>
              <a:t>clearly defined success.</a:t>
            </a:r>
          </a:p>
          <a:p>
            <a:pPr lvl="1"/>
            <a:r>
              <a:rPr lang="en-US" sz="2200" dirty="0"/>
              <a:t>Tasks where </a:t>
            </a:r>
            <a:r>
              <a:rPr lang="en-US" sz="2200" b="1" dirty="0"/>
              <a:t>multiple acceptable solutions exist</a:t>
            </a:r>
            <a:r>
              <a:rPr lang="en-US" sz="2200" dirty="0"/>
              <a:t>.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891737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62B34-0498-1630-93F0-3C844C7E5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Human-in-the-Loop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74BDA7-BFF6-CCA9-9F87-87DC8BE6E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968" y="1825625"/>
            <a:ext cx="11058832" cy="4771820"/>
          </a:xfrm>
        </p:spPr>
        <p:txBody>
          <a:bodyPr/>
          <a:lstStyle/>
          <a:p>
            <a:r>
              <a:rPr lang="en-US" dirty="0" err="1"/>
              <a:t>AgentEval</a:t>
            </a:r>
            <a:r>
              <a:rPr lang="en-US" dirty="0"/>
              <a:t> supports </a:t>
            </a:r>
            <a:r>
              <a:rPr lang="en-US" b="1" dirty="0"/>
              <a:t>human participation in the evaluation process</a:t>
            </a:r>
            <a:r>
              <a:rPr lang="en-US" dirty="0"/>
              <a:t>.</a:t>
            </a:r>
          </a:p>
          <a:p>
            <a:r>
              <a:rPr lang="en-US" dirty="0"/>
              <a:t>Domain experts can:</a:t>
            </a:r>
          </a:p>
          <a:p>
            <a:pPr lvl="1"/>
            <a:r>
              <a:rPr lang="en-US" dirty="0"/>
              <a:t> Suggest relevant evaluation criteria</a:t>
            </a:r>
          </a:p>
          <a:p>
            <a:pPr lvl="1"/>
            <a:r>
              <a:rPr lang="en-US" dirty="0"/>
              <a:t> Verify the usefulness of the generated criteria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This human-in-the-loop approach ensures that evaluation remains aligned with </a:t>
            </a:r>
            <a:r>
              <a:rPr lang="en-US" b="1" dirty="0"/>
              <a:t>real-world expectations and domain knowledge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92384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8AC08A-38F9-C0F4-E779-9BF6069BF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4000"/>
              <a:t>Empirical Validation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5D2215-05CB-E7EB-7697-41BB98D656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3440" y="2481942"/>
            <a:ext cx="10430256" cy="4142377"/>
          </a:xfrm>
        </p:spPr>
        <p:txBody>
          <a:bodyPr>
            <a:normAutofit/>
          </a:bodyPr>
          <a:lstStyle/>
          <a:p>
            <a:r>
              <a:rPr lang="en-US" sz="2400" dirty="0" err="1"/>
              <a:t>AgentEval</a:t>
            </a:r>
            <a:r>
              <a:rPr lang="en-US" sz="2400" dirty="0"/>
              <a:t> was tested on two applications.</a:t>
            </a:r>
          </a:p>
          <a:p>
            <a:pPr lvl="1"/>
            <a:r>
              <a:rPr lang="en-US" sz="1800" b="1" dirty="0"/>
              <a:t>Math Problem Solving</a:t>
            </a:r>
          </a:p>
          <a:p>
            <a:pPr lvl="2"/>
            <a:r>
              <a:rPr lang="en-US" sz="1700" dirty="0"/>
              <a:t>Dataset:</a:t>
            </a:r>
          </a:p>
          <a:p>
            <a:pPr lvl="2"/>
            <a:r>
              <a:rPr lang="en-US" sz="1700" dirty="0"/>
              <a:t>12,500 challenging math problems with step-by-step solutions.</a:t>
            </a:r>
          </a:p>
          <a:p>
            <a:pPr lvl="2"/>
            <a:r>
              <a:rPr lang="en-US" sz="1700" dirty="0" err="1"/>
              <a:t>AgentEval</a:t>
            </a:r>
            <a:r>
              <a:rPr lang="en-US" sz="1700" dirty="0"/>
              <a:t> evaluated multiple models and successfully identified relevant evaluation criteria.</a:t>
            </a:r>
          </a:p>
          <a:p>
            <a:pPr lvl="1"/>
            <a:r>
              <a:rPr lang="en-US" sz="1800" b="1" dirty="0" err="1"/>
              <a:t>ALFWorld</a:t>
            </a:r>
            <a:r>
              <a:rPr lang="en-US" sz="1800" b="1" dirty="0"/>
              <a:t> Simulation</a:t>
            </a:r>
          </a:p>
          <a:p>
            <a:pPr lvl="2"/>
            <a:r>
              <a:rPr lang="en-US" sz="1700" dirty="0" err="1"/>
              <a:t>ALFWorld</a:t>
            </a:r>
            <a:r>
              <a:rPr lang="en-US" sz="1700" dirty="0"/>
              <a:t> is a simulated environment where agents perform household tasks.</a:t>
            </a:r>
          </a:p>
          <a:p>
            <a:pPr lvl="3"/>
            <a:r>
              <a:rPr lang="en-US" sz="1700" dirty="0"/>
              <a:t>Examples include:</a:t>
            </a:r>
          </a:p>
          <a:p>
            <a:pPr lvl="4"/>
            <a:r>
              <a:rPr lang="en-US" sz="1700" dirty="0"/>
              <a:t>navigating rooms</a:t>
            </a:r>
          </a:p>
          <a:p>
            <a:pPr lvl="4"/>
            <a:r>
              <a:rPr lang="en-US" sz="1700" dirty="0"/>
              <a:t>interacting with objects</a:t>
            </a:r>
          </a:p>
          <a:p>
            <a:pPr lvl="4"/>
            <a:r>
              <a:rPr lang="en-US" sz="1700" dirty="0"/>
              <a:t>completing instructions</a:t>
            </a:r>
          </a:p>
          <a:p>
            <a:r>
              <a:rPr lang="en-US" sz="2400" dirty="0" err="1"/>
              <a:t>AgentEval</a:t>
            </a:r>
            <a:r>
              <a:rPr lang="en-US" sz="2400" dirty="0"/>
              <a:t> evaluated agent performance in these multi-step interactions.</a:t>
            </a:r>
          </a:p>
          <a:p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414662650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B5FEB6-5AF6-25BC-6DC2-4C39EF9E4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4000"/>
              <a:t>Using AgentEval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CD779-4C94-7776-D5F6-30044AA24A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r>
              <a:rPr lang="en-US" sz="2000" dirty="0" err="1"/>
              <a:t>AgentEval</a:t>
            </a:r>
            <a:r>
              <a:rPr lang="en-US" sz="2000" dirty="0"/>
              <a:t> currently operates in two main stages.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b="1" dirty="0"/>
              <a:t>Criteria Generation</a:t>
            </a:r>
          </a:p>
          <a:p>
            <a:pPr marL="914400" lvl="2" indent="0">
              <a:buNone/>
            </a:pPr>
            <a:r>
              <a:rPr lang="en-US" dirty="0"/>
              <a:t>Example function: </a:t>
            </a:r>
            <a:r>
              <a:rPr lang="en-US" dirty="0" err="1"/>
              <a:t>generate_criteria</a:t>
            </a:r>
            <a:r>
              <a:rPr lang="en-US" dirty="0"/>
              <a:t>()</a:t>
            </a:r>
          </a:p>
          <a:p>
            <a:pPr marL="914400" lvl="2" indent="0">
              <a:buNone/>
            </a:pPr>
            <a:r>
              <a:rPr lang="en-US" dirty="0"/>
              <a:t>Inputs:</a:t>
            </a:r>
          </a:p>
          <a:p>
            <a:pPr lvl="3"/>
            <a:r>
              <a:rPr lang="en-US" sz="2000" dirty="0"/>
              <a:t>task description</a:t>
            </a:r>
          </a:p>
          <a:p>
            <a:pPr lvl="3"/>
            <a:r>
              <a:rPr lang="en-US" sz="2000" dirty="0"/>
              <a:t>successful example</a:t>
            </a:r>
          </a:p>
          <a:p>
            <a:pPr lvl="3"/>
            <a:r>
              <a:rPr lang="en-US" sz="2000" dirty="0"/>
              <a:t>failed example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Criteria Quantification</a:t>
            </a:r>
          </a:p>
          <a:p>
            <a:pPr marL="914400" lvl="2" indent="0">
              <a:buNone/>
            </a:pPr>
            <a:r>
              <a:rPr lang="en-US" dirty="0"/>
              <a:t>Example function: </a:t>
            </a:r>
            <a:r>
              <a:rPr lang="en-US" dirty="0" err="1"/>
              <a:t>quantify_criteria</a:t>
            </a:r>
            <a:r>
              <a:rPr lang="en-US" dirty="0"/>
              <a:t>()</a:t>
            </a:r>
          </a:p>
          <a:p>
            <a:r>
              <a:rPr lang="en-US" sz="2000" dirty="0"/>
              <a:t>This stage evaluates execution traces using the generated criteria.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1494849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74DF07-BE7A-E96B-EE8F-28EDB3703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4000"/>
              <a:t>Advantages of AgentEval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B4E820-D8A3-2412-A707-A0A484589A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r>
              <a:rPr lang="en-US" sz="2400" dirty="0" err="1"/>
              <a:t>AgentEval</a:t>
            </a:r>
            <a:r>
              <a:rPr lang="en-US" sz="2400" dirty="0"/>
              <a:t> provides several important benefits.</a:t>
            </a:r>
          </a:p>
          <a:p>
            <a:pPr lvl="1"/>
            <a:r>
              <a:rPr lang="en-US" sz="2200" dirty="0"/>
              <a:t>enables automated evaluation of AI systems</a:t>
            </a:r>
          </a:p>
          <a:p>
            <a:pPr lvl="1"/>
            <a:r>
              <a:rPr lang="en-US" sz="2200" dirty="0"/>
              <a:t>evaluates multiple performance dimensions</a:t>
            </a:r>
          </a:p>
          <a:p>
            <a:pPr lvl="1"/>
            <a:r>
              <a:rPr lang="en-US" sz="2200" dirty="0"/>
              <a:t>reduces reliance on manual human evaluation</a:t>
            </a:r>
          </a:p>
          <a:p>
            <a:pPr lvl="1"/>
            <a:r>
              <a:rPr lang="en-US" sz="2200" dirty="0"/>
              <a:t>helps identify strengths and weaknesses of applications</a:t>
            </a:r>
          </a:p>
          <a:p>
            <a:pPr lvl="1"/>
            <a:endParaRPr lang="en-US" sz="2200" dirty="0"/>
          </a:p>
          <a:p>
            <a:r>
              <a:rPr lang="en-US" sz="2200" dirty="0"/>
              <a:t>It provides developers with insight into how well their AI systems assist users.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82379786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171E68-D12F-597D-82FC-2CFF34EE2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3700"/>
              <a:t>Limitations of AgentEval</a:t>
            </a:r>
            <a:br>
              <a:rPr lang="en-US" sz="3700"/>
            </a:br>
            <a:endParaRPr lang="en-US" sz="37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186BFB-28AD-E191-C57B-49E09AFBB1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6850" y="2276856"/>
            <a:ext cx="10656846" cy="390010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200" dirty="0"/>
          </a:p>
          <a:p>
            <a:r>
              <a:rPr lang="en-US" dirty="0"/>
              <a:t>Generated criteria may vary between runs</a:t>
            </a:r>
          </a:p>
          <a:p>
            <a:r>
              <a:rPr lang="en-US" dirty="0"/>
              <a:t>Quantification results may change due to LLM randomness</a:t>
            </a:r>
          </a:p>
          <a:p>
            <a:r>
              <a:rPr lang="en-US" dirty="0"/>
              <a:t> The </a:t>
            </a:r>
            <a:r>
              <a:rPr lang="en-US" dirty="0" err="1"/>
              <a:t>VerifierAgent</a:t>
            </a:r>
            <a:r>
              <a:rPr lang="en-US" dirty="0"/>
              <a:t> component is still under development</a:t>
            </a:r>
          </a:p>
          <a:p>
            <a:r>
              <a:rPr lang="en-US" dirty="0"/>
              <a:t>Researchers recommend performing multiple evaluation runs and including human expertise in the evaluation process.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66535561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D38AD-6283-2552-446B-D237A7159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Demonstration 2: </a:t>
            </a:r>
            <a:r>
              <a:rPr lang="en-US" dirty="0" err="1"/>
              <a:t>AgentEval</a:t>
            </a:r>
            <a:r>
              <a:rPr lang="en-US" dirty="0"/>
              <a:t> with </a:t>
            </a:r>
            <a:r>
              <a:rPr lang="en-US" dirty="0" err="1"/>
              <a:t>AutoGen</a:t>
            </a:r>
            <a:r>
              <a:rPr lang="en-US" dirty="0"/>
              <a:t> + Ollama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689C76-F07C-C726-DDA0-C3907C4676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this demonstration, we run a simplified Microsoft-style </a:t>
            </a:r>
            <a:r>
              <a:rPr lang="en-US" dirty="0" err="1"/>
              <a:t>AgentEval</a:t>
            </a:r>
            <a:r>
              <a:rPr lang="en-US" dirty="0"/>
              <a:t> pipeline locally using:</a:t>
            </a:r>
          </a:p>
          <a:p>
            <a:pPr lvl="1"/>
            <a:r>
              <a:rPr lang="en-US" b="1" dirty="0" err="1"/>
              <a:t>AutoGen</a:t>
            </a:r>
            <a:r>
              <a:rPr lang="en-US" b="1" dirty="0"/>
              <a:t> agents</a:t>
            </a:r>
            <a:endParaRPr lang="en-US" dirty="0"/>
          </a:p>
          <a:p>
            <a:pPr lvl="1"/>
            <a:r>
              <a:rPr lang="en-US" b="1" dirty="0"/>
              <a:t>Ollama local LLM</a:t>
            </a:r>
            <a:endParaRPr lang="en-US" dirty="0"/>
          </a:p>
          <a:p>
            <a:pPr lvl="1"/>
            <a:r>
              <a:rPr lang="en-US" b="1" dirty="0"/>
              <a:t>Automatically generated evaluation criteria</a:t>
            </a:r>
            <a:endParaRPr lang="en-US" dirty="0"/>
          </a:p>
          <a:p>
            <a:r>
              <a:rPr lang="en-US" b="1" dirty="0"/>
              <a:t>Three agents used</a:t>
            </a:r>
          </a:p>
          <a:p>
            <a:pPr lvl="1"/>
            <a:r>
              <a:rPr lang="en-US" b="1" dirty="0" err="1"/>
              <a:t>TaskAgent</a:t>
            </a:r>
            <a:r>
              <a:rPr lang="en-US" dirty="0"/>
              <a:t> — solves the task</a:t>
            </a:r>
          </a:p>
          <a:p>
            <a:pPr lvl="1"/>
            <a:r>
              <a:rPr lang="en-US" b="1" dirty="0" err="1"/>
              <a:t>CriticAgent</a:t>
            </a:r>
            <a:r>
              <a:rPr lang="en-US" dirty="0"/>
              <a:t> — generates evaluation criteria</a:t>
            </a:r>
          </a:p>
          <a:p>
            <a:pPr lvl="1"/>
            <a:r>
              <a:rPr lang="en-US" b="1" dirty="0" err="1"/>
              <a:t>QuantifierAgent</a:t>
            </a:r>
            <a:r>
              <a:rPr lang="en-US" dirty="0"/>
              <a:t> — evaluates the response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18511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B22D2-6E81-5188-EC88-34D6A2EC7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Virtual Environment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34B6AD-FEAA-437A-CC4F-97241FC919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Windows:</a:t>
            </a:r>
          </a:p>
          <a:p>
            <a:pPr marL="457200" lvl="1" indent="0">
              <a:buNone/>
            </a:pPr>
            <a:br>
              <a:rPr lang="en-US" dirty="0"/>
            </a:br>
            <a:r>
              <a:rPr lang="en-US" dirty="0"/>
              <a:t>python -m </a:t>
            </a:r>
            <a:r>
              <a:rPr lang="en-US" dirty="0" err="1"/>
              <a:t>venv</a:t>
            </a:r>
            <a:r>
              <a:rPr lang="en-US" dirty="0"/>
              <a:t> </a:t>
            </a:r>
            <a:r>
              <a:rPr lang="en-US" dirty="0" err="1"/>
              <a:t>venv</a:t>
            </a:r>
            <a:endParaRPr lang="en-US" dirty="0"/>
          </a:p>
          <a:p>
            <a:pPr marL="457200" lvl="1" indent="0">
              <a:buNone/>
            </a:pPr>
            <a:r>
              <a:rPr lang="en-US" dirty="0" err="1"/>
              <a:t>venv</a:t>
            </a:r>
            <a:r>
              <a:rPr lang="en-US" dirty="0"/>
              <a:t>\Scripts\activate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Mac / Linux</a:t>
            </a:r>
          </a:p>
          <a:p>
            <a:pPr marL="457200" lvl="1" indent="0">
              <a:buNone/>
            </a:pPr>
            <a:br>
              <a:rPr lang="en-US" dirty="0"/>
            </a:br>
            <a:r>
              <a:rPr lang="fr-FR" dirty="0"/>
              <a:t>python3 -m </a:t>
            </a:r>
            <a:r>
              <a:rPr lang="fr-FR" dirty="0" err="1"/>
              <a:t>venv</a:t>
            </a:r>
            <a:r>
              <a:rPr lang="fr-FR" dirty="0"/>
              <a:t> </a:t>
            </a:r>
            <a:r>
              <a:rPr lang="fr-FR" dirty="0" err="1"/>
              <a:t>venv</a:t>
            </a:r>
            <a:endParaRPr lang="fr-FR" dirty="0"/>
          </a:p>
          <a:p>
            <a:pPr marL="457200" lvl="1" indent="0">
              <a:buNone/>
            </a:pPr>
            <a:r>
              <a:rPr lang="fr-FR" dirty="0"/>
              <a:t>source </a:t>
            </a:r>
            <a:r>
              <a:rPr lang="fr-FR" dirty="0" err="1"/>
              <a:t>venv</a:t>
            </a:r>
            <a:r>
              <a:rPr lang="fr-FR" dirty="0"/>
              <a:t>/bin/</a:t>
            </a:r>
            <a:r>
              <a:rPr lang="fr-FR" dirty="0" err="1"/>
              <a:t>activate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040326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B4FFC-5AD1-46D4-ADA8-195C85E89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3CCD1-5823-8D4E-0A61-F0B88DC777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Python 3.10+</a:t>
            </a:r>
          </a:p>
          <a:p>
            <a:r>
              <a:rPr lang="en-US" dirty="0"/>
              <a:t>Now install the required python packages inside virtual environment:</a:t>
            </a:r>
          </a:p>
          <a:p>
            <a:pPr lvl="1"/>
            <a:r>
              <a:rPr lang="en-US" dirty="0" err="1"/>
              <a:t>autogen</a:t>
            </a:r>
            <a:r>
              <a:rPr lang="en-US" dirty="0"/>
              <a:t>-agent</a:t>
            </a:r>
          </a:p>
          <a:p>
            <a:pPr lvl="1"/>
            <a:r>
              <a:rPr lang="en-US" dirty="0" err="1"/>
              <a:t>chatautogen-extrequests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Commands</a:t>
            </a:r>
          </a:p>
          <a:p>
            <a:pPr marL="457200" lvl="1" indent="0">
              <a:buNone/>
            </a:pPr>
            <a:r>
              <a:rPr lang="en-US" dirty="0"/>
              <a:t>   pip install </a:t>
            </a:r>
            <a:r>
              <a:rPr lang="en-US" dirty="0" err="1"/>
              <a:t>autogen-agentchat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   pip install </a:t>
            </a:r>
            <a:r>
              <a:rPr lang="en-US" dirty="0" err="1"/>
              <a:t>autogen-ext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   pip install requests</a:t>
            </a:r>
          </a:p>
        </p:txBody>
      </p:sp>
    </p:spTree>
    <p:extLst>
      <p:ext uri="{BB962C8B-B14F-4D97-AF65-F5344CB8AC3E}">
        <p14:creationId xmlns:p14="http://schemas.microsoft.com/office/powerpoint/2010/main" val="124290913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31E82-5482-8D57-6B18-328C69330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 Ollama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11003-137B-8607-BD51-6D6F00E30E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3600" dirty="0"/>
              <a:t>Ollama is used as the </a:t>
            </a:r>
            <a:r>
              <a:rPr lang="en-US" sz="3600" b="1" dirty="0"/>
              <a:t>local LLM backend</a:t>
            </a:r>
            <a:r>
              <a:rPr lang="en-US" sz="3600" dirty="0"/>
              <a:t>.</a:t>
            </a:r>
            <a:br>
              <a:rPr lang="en-US" sz="3600" dirty="0"/>
            </a:br>
            <a:r>
              <a:rPr lang="en-US" sz="3600" dirty="0"/>
              <a:t>  Download go to: </a:t>
            </a:r>
            <a:r>
              <a:rPr lang="en-US" sz="3600" dirty="0">
                <a:hlinkClick r:id="rId2"/>
              </a:rPr>
              <a:t>https://ollama.com</a:t>
            </a:r>
            <a:endParaRPr lang="en-US" sz="3600" dirty="0"/>
          </a:p>
          <a:p>
            <a:r>
              <a:rPr lang="en-US" sz="3600" dirty="0"/>
              <a:t>Download a Local Model</a:t>
            </a:r>
            <a:br>
              <a:rPr lang="en-US" sz="3600" dirty="0"/>
            </a:br>
            <a:r>
              <a:rPr lang="en-US" sz="3600" dirty="0"/>
              <a:t>In terminal : </a:t>
            </a:r>
            <a:r>
              <a:rPr lang="en-US" sz="3600" dirty="0" err="1"/>
              <a:t>ollama</a:t>
            </a:r>
            <a:r>
              <a:rPr lang="en-US" sz="3600" dirty="0"/>
              <a:t> pull llama3</a:t>
            </a:r>
            <a:br>
              <a:rPr lang="en-US" sz="3600" dirty="0"/>
            </a:br>
            <a:endParaRPr lang="en-US" sz="3600" dirty="0"/>
          </a:p>
          <a:p>
            <a:r>
              <a:rPr lang="en-US" sz="3600" dirty="0"/>
              <a:t>Start Ollama</a:t>
            </a:r>
          </a:p>
          <a:p>
            <a:pPr marL="0" indent="0">
              <a:buNone/>
            </a:pPr>
            <a:r>
              <a:rPr lang="en-US" sz="3600" dirty="0"/>
              <a:t>                              </a:t>
            </a:r>
            <a:r>
              <a:rPr lang="en-US" sz="3600" dirty="0" err="1"/>
              <a:t>ollama</a:t>
            </a:r>
            <a:r>
              <a:rPr lang="en-US" sz="3600" dirty="0"/>
              <a:t> run llama3</a:t>
            </a:r>
            <a:br>
              <a:rPr lang="en-US" sz="3600" dirty="0"/>
            </a:br>
            <a:endParaRPr lang="en-US" sz="3600" dirty="0"/>
          </a:p>
          <a:p>
            <a:pPr marL="0" indent="0">
              <a:buNone/>
            </a:pPr>
            <a:r>
              <a:rPr lang="en-US" sz="3600" dirty="0"/>
              <a:t>Local model server runs at: http://localhost:11434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476360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B7E4E-5260-EA0F-C5C6-4A6343DA6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C58CE-DCE6-0877-524D-6BB50CE9EA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 The demonstration uses three Python files:</a:t>
            </a:r>
          </a:p>
          <a:p>
            <a:pPr lvl="1"/>
            <a:r>
              <a:rPr lang="en-US" dirty="0"/>
              <a:t>ollama_llm.py              </a:t>
            </a:r>
          </a:p>
          <a:p>
            <a:pPr lvl="1"/>
            <a:r>
              <a:rPr lang="en-US" dirty="0"/>
              <a:t>agenteval_basic.py</a:t>
            </a:r>
          </a:p>
          <a:p>
            <a:pPr lvl="1"/>
            <a:r>
              <a:rPr lang="en-US" dirty="0"/>
              <a:t>agenteval_execute.py</a:t>
            </a:r>
          </a:p>
          <a:p>
            <a:endParaRPr lang="en-US" dirty="0"/>
          </a:p>
          <a:p>
            <a:r>
              <a:rPr lang="en-US" altLang="en-US" sz="3600" b="1" dirty="0">
                <a:latin typeface="Arial Unicode MS"/>
              </a:rPr>
              <a:t>ollama_llm.py</a:t>
            </a:r>
            <a:r>
              <a:rPr lang="en-US" altLang="en-US" dirty="0"/>
              <a:t> — helper for connecting to Ollama using requests </a:t>
            </a:r>
            <a:endParaRPr lang="en-US" altLang="en-US" sz="6600" dirty="0">
              <a:latin typeface="Arial" panose="020B0604020202020204" pitchFamily="34" charset="0"/>
            </a:endParaRPr>
          </a:p>
          <a:p>
            <a:r>
              <a:rPr lang="en-US" altLang="en-US" sz="3600" b="1" dirty="0">
                <a:latin typeface="Arial Unicode MS"/>
              </a:rPr>
              <a:t>agenteval_basic.py</a:t>
            </a:r>
            <a:r>
              <a:rPr lang="en-US" altLang="en-US" dirty="0"/>
              <a:t> — initializes </a:t>
            </a:r>
            <a:r>
              <a:rPr lang="en-US" altLang="en-US" dirty="0" err="1"/>
              <a:t>AutoGen</a:t>
            </a:r>
            <a:r>
              <a:rPr lang="en-US" altLang="en-US" dirty="0"/>
              <a:t> agents with Ollama </a:t>
            </a:r>
            <a:endParaRPr lang="en-US" altLang="en-US" sz="6600" dirty="0">
              <a:latin typeface="Arial" panose="020B0604020202020204" pitchFamily="34" charset="0"/>
            </a:endParaRPr>
          </a:p>
          <a:p>
            <a:r>
              <a:rPr lang="en-US" altLang="en-US" sz="3600" b="1" dirty="0">
                <a:latin typeface="Arial Unicode MS"/>
              </a:rPr>
              <a:t>agenteval_execute.py</a:t>
            </a:r>
            <a:r>
              <a:rPr lang="en-US" altLang="en-US" dirty="0"/>
              <a:t> — runs the full Task → Criteria → Evaluation pipeline</a:t>
            </a:r>
            <a:endParaRPr lang="en-US" altLang="en-US" sz="6600" dirty="0"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70120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80E4D-65B6-7817-D735-68E301C52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 the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B1D570-083E-6D48-0B21-AAECB25AFE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 your code,  we want to run the math problem (or any task) defined </a:t>
            </a:r>
            <a:r>
              <a:rPr lang="en-US" b="1" dirty="0"/>
              <a:t>inside agenteval_execute.py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Open the </a:t>
            </a:r>
            <a:r>
              <a:rPr lang="en-US" b="1" dirty="0"/>
              <a:t>agenteval_execute.py in any editor and specify the task: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 err="1"/>
              <a:t>task_prompt</a:t>
            </a:r>
            <a:r>
              <a:rPr lang="en-US" dirty="0"/>
              <a:t> = "Solve the equation: 3x + 5 = 20."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 one terminal run </a:t>
            </a:r>
            <a:r>
              <a:rPr lang="en-US" dirty="0" err="1"/>
              <a:t>ollama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If you do not have a GPU</a:t>
            </a:r>
            <a:br>
              <a:rPr lang="en-US" dirty="0"/>
            </a:br>
            <a:r>
              <a:rPr lang="es-ES" dirty="0"/>
              <a:t>set OLLAMA_NO_CUDA=1</a:t>
            </a:r>
          </a:p>
          <a:p>
            <a:pPr marL="457200" lvl="1" indent="0">
              <a:buNone/>
            </a:pPr>
            <a:r>
              <a:rPr lang="es-ES" dirty="0" err="1"/>
              <a:t>ollama</a:t>
            </a:r>
            <a:r>
              <a:rPr lang="es-ES" dirty="0"/>
              <a:t> run llama3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In another  the terminal and inside the virtual environment, run the command:</a:t>
            </a:r>
          </a:p>
          <a:p>
            <a:pPr marL="457200" lvl="1" indent="0">
              <a:buNone/>
            </a:pPr>
            <a:r>
              <a:rPr lang="en-US" dirty="0"/>
              <a:t> python agenteval_execute.py   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867070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A3BBD-A67B-3084-4DF7-FBE745C38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the script does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27BDF-24FF-D6E1-2E09-853CB5E0BF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TaskAgent</a:t>
            </a:r>
            <a:r>
              <a:rPr lang="en-US" dirty="0"/>
              <a:t> solves the problem</a:t>
            </a:r>
          </a:p>
          <a:p>
            <a:r>
              <a:rPr lang="en-US" dirty="0" err="1"/>
              <a:t>CriticAgent</a:t>
            </a:r>
            <a:r>
              <a:rPr lang="en-US" dirty="0"/>
              <a:t> generates evaluation criteria</a:t>
            </a:r>
          </a:p>
          <a:p>
            <a:r>
              <a:rPr lang="en-US" dirty="0" err="1"/>
              <a:t>QuantifierAgent</a:t>
            </a:r>
            <a:r>
              <a:rPr lang="en-US" dirty="0"/>
              <a:t> evaluates the response</a:t>
            </a:r>
          </a:p>
          <a:p>
            <a:r>
              <a:rPr lang="en-US" dirty="0"/>
              <a:t>This demonstrates a </a:t>
            </a:r>
            <a:r>
              <a:rPr lang="en-US" b="1" dirty="0"/>
              <a:t>multi-agent evaluation pipeline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14947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D1C90-7227-C68A-7944-51EFEEB33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E7FCDB-DCE7-553B-8D66-79DBA5EF0A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TASK OUTPUT</a:t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166E01-1F33-DA8B-FC9C-3C84C4B35B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640" y="2786659"/>
            <a:ext cx="12192000" cy="2930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61236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E2D48-378C-0366-FC4D-347D71D69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CRITERIA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4673E25-B12B-A02B-13F0-43ED076E7D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98948"/>
            <a:ext cx="9653539" cy="4778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13954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6BC6E-CEF2-6942-44A0-7A6EAC74E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output for math problem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050D148-1525-F3FD-6790-AF5E019ED5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542" y="2174240"/>
            <a:ext cx="11334258" cy="3407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3769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3012</TotalTime>
  <Words>2944</Words>
  <Application>Microsoft Office PowerPoint</Application>
  <PresentationFormat>Widescreen</PresentationFormat>
  <Paragraphs>440</Paragraphs>
  <Slides>51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8" baseType="lpstr">
      <vt:lpstr>Aptos</vt:lpstr>
      <vt:lpstr>Aptos Display</vt:lpstr>
      <vt:lpstr>Arial</vt:lpstr>
      <vt:lpstr>Arial Unicode MS</vt:lpstr>
      <vt:lpstr>Calibri</vt:lpstr>
      <vt:lpstr>Wingdings</vt:lpstr>
      <vt:lpstr>Office Theme</vt:lpstr>
      <vt:lpstr>PowerPoint Presentation</vt:lpstr>
      <vt:lpstr>Why Evaluation is Hard in LLM Systems</vt:lpstr>
      <vt:lpstr>From LLMs to Autonomous Agents</vt:lpstr>
      <vt:lpstr>Typical Agent Execution Pipeline</vt:lpstr>
      <vt:lpstr>Hidden Failure Modes in AI Agents</vt:lpstr>
      <vt:lpstr>Real Failure Example: 404 Misinterpretation</vt:lpstr>
      <vt:lpstr>Real Failure Example: 404 Misinterpretation</vt:lpstr>
      <vt:lpstr>Failure Localization in the Agent Execution Pipeline</vt:lpstr>
      <vt:lpstr>Why Output-Based Testing Fails for AI Agents</vt:lpstr>
      <vt:lpstr>Trace-Based Evaluation: Verifying Behavior, Not Just Output</vt:lpstr>
      <vt:lpstr>Anatomy of the Execution Trace</vt:lpstr>
      <vt:lpstr>Key Components Recorded in a Trace</vt:lpstr>
      <vt:lpstr>What AgentEval Checks</vt:lpstr>
      <vt:lpstr>What AgentEval Evaluates</vt:lpstr>
      <vt:lpstr>What AgentEval Flags in the 404 Case</vt:lpstr>
      <vt:lpstr>Hands-On Demonstration: Running AgentEval Locally</vt:lpstr>
      <vt:lpstr>To run the AgentEval demonstration, we first prepare the environment.</vt:lpstr>
      <vt:lpstr>Build your project</vt:lpstr>
      <vt:lpstr>Running the Mock API</vt:lpstr>
      <vt:lpstr>Test mock server</vt:lpstr>
      <vt:lpstr>Running the Testing Agent</vt:lpstr>
      <vt:lpstr>Agent Execution Trace and Test Results</vt:lpstr>
      <vt:lpstr>Running the Evaluation: npm run evaluate</vt:lpstr>
      <vt:lpstr>AgentEval: Evaluating LLM-Powered Applications </vt:lpstr>
      <vt:lpstr>Assessing Utility in LLM Applications</vt:lpstr>
      <vt:lpstr>Task Taxonomy in LLM Applications</vt:lpstr>
      <vt:lpstr>AgentEval Framework Overview</vt:lpstr>
      <vt:lpstr>AgentEval Framework </vt:lpstr>
      <vt:lpstr>CriticAgent: Generating Evaluation Criteria </vt:lpstr>
      <vt:lpstr>Structure of Generated Criteria</vt:lpstr>
      <vt:lpstr>QuantifierAgent: Evaluating Performance</vt:lpstr>
      <vt:lpstr>Example Quantification Output </vt:lpstr>
      <vt:lpstr>VerifierAgent: Ensuring Reliable Evaluation</vt:lpstr>
      <vt:lpstr>Criteria Stability</vt:lpstr>
      <vt:lpstr>Discriminative Power</vt:lpstr>
      <vt:lpstr>Flexibility of AgentEval</vt:lpstr>
      <vt:lpstr>Human-in-the-Loop Evaluation</vt:lpstr>
      <vt:lpstr>Empirical Validation</vt:lpstr>
      <vt:lpstr>Using AgentEval</vt:lpstr>
      <vt:lpstr>Advantages of AgentEval</vt:lpstr>
      <vt:lpstr>Limitations of AgentEval </vt:lpstr>
      <vt:lpstr>Demonstration 2: AgentEval with AutoGen + Ollama</vt:lpstr>
      <vt:lpstr>Create Virtual Environment </vt:lpstr>
      <vt:lpstr>Requirements</vt:lpstr>
      <vt:lpstr>Install Ollama</vt:lpstr>
      <vt:lpstr>Project Files</vt:lpstr>
      <vt:lpstr>Run the Demo</vt:lpstr>
      <vt:lpstr>What the script does </vt:lpstr>
      <vt:lpstr>Output </vt:lpstr>
      <vt:lpstr>CRITERIA</vt:lpstr>
      <vt:lpstr>Evaluation output for math problem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Al-Qudah, Hasan</dc:creator>
  <cp:lastModifiedBy>Al-Qudah, Hasan</cp:lastModifiedBy>
  <cp:revision>79</cp:revision>
  <dcterms:created xsi:type="dcterms:W3CDTF">2026-02-09T04:16:22Z</dcterms:created>
  <dcterms:modified xsi:type="dcterms:W3CDTF">2026-03-08T05:52:49Z</dcterms:modified>
</cp:coreProperties>
</file>